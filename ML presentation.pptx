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9" r:id="rId21"/>
    <p:sldId id="340" r:id="rId22"/>
    <p:sldId id="341" r:id="rId23"/>
    <p:sldId id="338" r:id="rId24"/>
    <p:sldId id="342" r:id="rId25"/>
    <p:sldId id="343" r:id="rId26"/>
    <p:sldId id="344" r:id="rId27"/>
    <p:sldId id="345" r:id="rId28"/>
    <p:sldId id="346" r:id="rId29"/>
    <p:sldId id="347" r:id="rId30"/>
    <p:sldId id="348" r:id="rId31"/>
    <p:sldId id="351" r:id="rId32"/>
    <p:sldId id="349" r:id="rId33"/>
    <p:sldId id="350" r:id="rId34"/>
    <p:sldId id="35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C349C6"/>
    <a:srgbClr val="853F85"/>
    <a:srgbClr val="60959F"/>
    <a:srgbClr val="95B8BF"/>
    <a:srgbClr val="1E425D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164" y="68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002" y="2726631"/>
            <a:ext cx="9364515" cy="1404737"/>
          </a:xfrm>
        </p:spPr>
        <p:txBody>
          <a:bodyPr anchor="t">
            <a:normAutofit fontScale="90000"/>
          </a:bodyPr>
          <a:lstStyle/>
          <a:p>
            <a:pPr algn="ctr"/>
            <a:r>
              <a:rPr lang="fr-FR" sz="4800" dirty="0">
                <a:latin typeface="Arial Black" panose="020B0A04020102020204" pitchFamily="34" charset="0"/>
              </a:rPr>
              <a:t>Apprentissage par imitation appliqué au jeu Snake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6032E-F7EC-183E-399A-BC3DAEC52977}"/>
              </a:ext>
            </a:extLst>
          </p:cNvPr>
          <p:cNvSpPr txBox="1"/>
          <p:nvPr/>
        </p:nvSpPr>
        <p:spPr>
          <a:xfrm>
            <a:off x="1037026" y="6358440"/>
            <a:ext cx="3048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FF0BD-2C71-DF5C-CABE-6B40CDEF2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9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48B9D9-EBE1-0BEE-93B0-F606580DC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26B05-3C9B-748B-A6CA-56A4771CF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54AF-29C4-C16B-DED2-81F071D2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55" y="690511"/>
            <a:ext cx="5355689" cy="900691"/>
          </a:xfrm>
        </p:spPr>
        <p:txBody>
          <a:bodyPr anchor="t">
            <a:normAutofit/>
          </a:bodyPr>
          <a:lstStyle/>
          <a:p>
            <a:pPr algn="ctr"/>
            <a:r>
              <a:rPr lang="fr-FR" sz="4800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7157B-4884-2EC0-FDE2-4CA684972010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AED784-AE96-5462-F4B1-84B63E3D4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193BA0-D829-D0F2-30AD-8131E7BC2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7309F8-4EF8-3064-8074-1253AFBBA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4658" y="1843677"/>
            <a:ext cx="2173212" cy="2189634"/>
          </a:xfrm>
          <a:prstGeom prst="roundRect">
            <a:avLst>
              <a:gd name="adj" fmla="val 3944"/>
            </a:avLst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37AA78-430D-C648-DF00-D31AB777D132}"/>
              </a:ext>
            </a:extLst>
          </p:cNvPr>
          <p:cNvSpPr txBox="1"/>
          <p:nvPr/>
        </p:nvSpPr>
        <p:spPr>
          <a:xfrm>
            <a:off x="2165395" y="4108017"/>
            <a:ext cx="2311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Jeu D’arcade Snake</a:t>
            </a:r>
          </a:p>
        </p:txBody>
      </p: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564776AD-E887-11D0-C406-14978D89E2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9336" y="2392409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FE6545-39D7-B344-71BB-4CF1E614CE48}"/>
              </a:ext>
            </a:extLst>
          </p:cNvPr>
          <p:cNvSpPr txBox="1"/>
          <p:nvPr/>
        </p:nvSpPr>
        <p:spPr>
          <a:xfrm>
            <a:off x="5288827" y="3375732"/>
            <a:ext cx="1895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créé par les joueurs</a:t>
            </a:r>
          </a:p>
        </p:txBody>
      </p:sp>
      <p:pic>
        <p:nvPicPr>
          <p:cNvPr id="11" name="Graphic 10" descr="Gears with solid fill">
            <a:extLst>
              <a:ext uri="{FF2B5EF4-FFF2-40B4-BE49-F238E27FC236}">
                <a16:creationId xmlns:a16="http://schemas.microsoft.com/office/drawing/2014/main" id="{D9772BB0-6434-63CE-217E-585536015D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73844" y="2297248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B039D7-75CA-361A-F4CC-E87AF0B6DC6F}"/>
              </a:ext>
            </a:extLst>
          </p:cNvPr>
          <p:cNvSpPr txBox="1"/>
          <p:nvPr/>
        </p:nvSpPr>
        <p:spPr>
          <a:xfrm>
            <a:off x="8075176" y="3339834"/>
            <a:ext cx="2311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Modèles de machine learning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C848A9-FFE2-85E2-9680-231363ED5DA8}"/>
              </a:ext>
            </a:extLst>
          </p:cNvPr>
          <p:cNvSpPr txBox="1"/>
          <p:nvPr/>
        </p:nvSpPr>
        <p:spPr>
          <a:xfrm>
            <a:off x="2130701" y="5182521"/>
            <a:ext cx="84816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 :</a:t>
            </a:r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trouver un ou plusieurs modèles de machine learning généralisant le comportement des différents joueurs ayant constitué le </a:t>
            </a:r>
            <a:r>
              <a:rPr lang="fr-FR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fr-FR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651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15B0B-8362-1DD4-A2F0-300A79FA1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EB271F-879D-BAB3-1978-6C74E49E7842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BA584-8B89-C6ED-92CD-E051E8A8F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9FCDFB-91FE-4526-1F58-8CB6AEE5D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E5BC389B-D2B3-DA8A-B49F-7564B9269326}"/>
              </a:ext>
            </a:extLst>
          </p:cNvPr>
          <p:cNvSpPr txBox="1">
            <a:spLocks/>
          </p:cNvSpPr>
          <p:nvPr/>
        </p:nvSpPr>
        <p:spPr>
          <a:xfrm>
            <a:off x="1455583" y="737115"/>
            <a:ext cx="4640418" cy="5407091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latin typeface="Arial Black" panose="020B0A04020102020204" pitchFamily="34" charset="0"/>
              </a:rPr>
              <a:t>Plan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BD2221F-97A1-AD86-F389-51DFA6BE41DF}"/>
              </a:ext>
            </a:extLst>
          </p:cNvPr>
          <p:cNvSpPr txBox="1">
            <a:spLocks/>
          </p:cNvSpPr>
          <p:nvPr/>
        </p:nvSpPr>
        <p:spPr>
          <a:xfrm>
            <a:off x="6388461" y="737115"/>
            <a:ext cx="4449712" cy="5407091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Jeu et représentation des états</a:t>
            </a: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Librairie </a:t>
            </a:r>
            <a:r>
              <a:rPr lang="fr-FR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ML_lib</a:t>
            </a:r>
            <a:endParaRPr lang="fr-F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Entraînement</a:t>
            </a:r>
          </a:p>
          <a:p>
            <a:pPr lvl="1"/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</a:p>
          <a:p>
            <a:pPr lvl="1"/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Modèle linéaire</a:t>
            </a:r>
          </a:p>
          <a:p>
            <a:pPr lvl="1"/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PMC</a:t>
            </a:r>
          </a:p>
          <a:p>
            <a:pPr lvl="1"/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obtenus (live </a:t>
            </a:r>
            <a:r>
              <a:rPr lang="fr-F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fr-F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et axe d’amélioration</a:t>
            </a:r>
          </a:p>
        </p:txBody>
      </p:sp>
    </p:spTree>
    <p:extLst>
      <p:ext uri="{BB962C8B-B14F-4D97-AF65-F5344CB8AC3E}">
        <p14:creationId xmlns:p14="http://schemas.microsoft.com/office/powerpoint/2010/main" val="2347177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36B1F-A481-4399-2696-6568023C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B8C956-2B82-992E-2901-8713640903A4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7EC7F-2687-2BC8-2029-99895AF29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80D167-9907-F7EF-5797-85418AE06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65BF5A2-A558-D774-A8FB-70BFCC65C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 fontScale="90000"/>
          </a:bodyPr>
          <a:lstStyle/>
          <a:p>
            <a:r>
              <a:rPr lang="fr-FR" sz="3600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Jeu et représentation des états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6B22A6-84B2-49C5-6CE3-3C89428D1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492" y="1760336"/>
            <a:ext cx="3312298" cy="3337328"/>
          </a:xfrm>
          <a:prstGeom prst="roundRect">
            <a:avLst>
              <a:gd name="adj" fmla="val 3944"/>
            </a:avLst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1FF9F7-55AF-EC26-D691-FAF56B8A0E2B}"/>
              </a:ext>
            </a:extLst>
          </p:cNvPr>
          <p:cNvSpPr txBox="1"/>
          <p:nvPr/>
        </p:nvSpPr>
        <p:spPr>
          <a:xfrm>
            <a:off x="2825772" y="5191974"/>
            <a:ext cx="2311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Jeu D’arcade Snake très simple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518E90-2F2D-0F87-1B25-13D437C7451C}"/>
              </a:ext>
            </a:extLst>
          </p:cNvPr>
          <p:cNvSpPr txBox="1">
            <a:spLocks/>
          </p:cNvSpPr>
          <p:nvPr/>
        </p:nvSpPr>
        <p:spPr>
          <a:xfrm>
            <a:off x="6388460" y="737115"/>
            <a:ext cx="5099067" cy="5407091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 simple :</a:t>
            </a:r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manger la pomme et éviter les murs et la queue du serpent.</a:t>
            </a: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0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 :</a:t>
            </a:r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Comment représenter l’état du jeu à un instant précis de manière minimale et en évitant les biais ?</a:t>
            </a:r>
            <a:endParaRPr lang="fr-FR" sz="2000" b="1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591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886A92-795F-B2C4-1809-C989EBEA1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31010-31EC-B9D2-B68A-D1CE72D00ED7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BC047F-8A8A-F1BB-4F99-A7366B669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69A333-4E6F-BBEC-D2D5-A8468BB70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7D25308-6338-D43E-EBD0-B1997011D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 fontScale="90000"/>
          </a:bodyPr>
          <a:lstStyle/>
          <a:p>
            <a:r>
              <a:rPr lang="fr-FR" sz="3600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Jeu et représentation des états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DA9BA6-A1C3-A4E0-BB82-08FB61463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621" y="2536972"/>
            <a:ext cx="2900515" cy="2922433"/>
          </a:xfrm>
          <a:prstGeom prst="roundRect">
            <a:avLst>
              <a:gd name="adj" fmla="val 3944"/>
            </a:avLst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FC4498-712F-7CD5-A751-A8E11052A8BA}"/>
              </a:ext>
            </a:extLst>
          </p:cNvPr>
          <p:cNvSpPr txBox="1"/>
          <p:nvPr/>
        </p:nvSpPr>
        <p:spPr>
          <a:xfrm>
            <a:off x="5235930" y="1643257"/>
            <a:ext cx="2534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u="sng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Vecteur d’état choisi :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D974D8C-E8E6-D420-80B8-9AC72244FDB7}"/>
              </a:ext>
            </a:extLst>
          </p:cNvPr>
          <p:cNvGrpSpPr/>
          <p:nvPr/>
        </p:nvGrpSpPr>
        <p:grpSpPr>
          <a:xfrm>
            <a:off x="6143042" y="2241650"/>
            <a:ext cx="723147" cy="4233029"/>
            <a:chOff x="6367409" y="2241650"/>
            <a:chExt cx="723147" cy="4233029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B013DE-7CB4-E8C6-2782-3EEB64EC7202}"/>
                </a:ext>
              </a:extLst>
            </p:cNvPr>
            <p:cNvSpPr/>
            <p:nvPr/>
          </p:nvSpPr>
          <p:spPr>
            <a:xfrm>
              <a:off x="6367409" y="2241650"/>
              <a:ext cx="720000" cy="429429"/>
            </a:xfrm>
            <a:custGeom>
              <a:avLst/>
              <a:gdLst>
                <a:gd name="csX0" fmla="*/ 0 w 720000"/>
                <a:gd name="csY0" fmla="*/ 0 h 657389"/>
                <a:gd name="csX1" fmla="*/ 720000 w 720000"/>
                <a:gd name="csY1" fmla="*/ 0 h 657389"/>
                <a:gd name="csX2" fmla="*/ 720000 w 720000"/>
                <a:gd name="csY2" fmla="*/ 657389 h 657389"/>
                <a:gd name="csX3" fmla="*/ 0 w 720000"/>
                <a:gd name="csY3" fmla="*/ 657389 h 657389"/>
                <a:gd name="csX4" fmla="*/ 0 w 720000"/>
                <a:gd name="csY4" fmla="*/ 0 h 6573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0000" h="657389">
                  <a:moveTo>
                    <a:pt x="0" y="0"/>
                  </a:moveTo>
                  <a:lnTo>
                    <a:pt x="720000" y="0"/>
                  </a:lnTo>
                  <a:lnTo>
                    <a:pt x="720000" y="657389"/>
                  </a:lnTo>
                  <a:lnTo>
                    <a:pt x="0" y="657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score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AFBD682-16E0-6C83-CAD4-E4CA9341094F}"/>
                </a:ext>
              </a:extLst>
            </p:cNvPr>
            <p:cNvSpPr/>
            <p:nvPr/>
          </p:nvSpPr>
          <p:spPr>
            <a:xfrm>
              <a:off x="6370556" y="2742202"/>
              <a:ext cx="720000" cy="757271"/>
            </a:xfrm>
            <a:custGeom>
              <a:avLst/>
              <a:gdLst>
                <a:gd name="csX0" fmla="*/ 0 w 720000"/>
                <a:gd name="csY0" fmla="*/ 0 h 657389"/>
                <a:gd name="csX1" fmla="*/ 720000 w 720000"/>
                <a:gd name="csY1" fmla="*/ 0 h 657389"/>
                <a:gd name="csX2" fmla="*/ 720000 w 720000"/>
                <a:gd name="csY2" fmla="*/ 657389 h 657389"/>
                <a:gd name="csX3" fmla="*/ 0 w 720000"/>
                <a:gd name="csY3" fmla="*/ 657389 h 657389"/>
                <a:gd name="csX4" fmla="*/ 0 w 720000"/>
                <a:gd name="csY4" fmla="*/ 0 h 6573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0000" h="657389">
                  <a:moveTo>
                    <a:pt x="0" y="0"/>
                  </a:moveTo>
                  <a:lnTo>
                    <a:pt x="720000" y="0"/>
                  </a:lnTo>
                  <a:lnTo>
                    <a:pt x="720000" y="657389"/>
                  </a:lnTo>
                  <a:lnTo>
                    <a:pt x="0" y="657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49C6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Up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dirty="0"/>
                <a:t>Down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Right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dirty="0"/>
                <a:t>Left</a:t>
              </a:r>
              <a:endParaRPr lang="en-US" sz="1000" kern="120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6529CFE-D86A-B8A3-3605-E6B51BD3E8D4}"/>
                </a:ext>
              </a:extLst>
            </p:cNvPr>
            <p:cNvSpPr/>
            <p:nvPr/>
          </p:nvSpPr>
          <p:spPr>
            <a:xfrm>
              <a:off x="6370556" y="3570596"/>
              <a:ext cx="720000" cy="429430"/>
            </a:xfrm>
            <a:custGeom>
              <a:avLst/>
              <a:gdLst>
                <a:gd name="csX0" fmla="*/ 0 w 742500"/>
                <a:gd name="csY0" fmla="*/ 0 h 657389"/>
                <a:gd name="csX1" fmla="*/ 742500 w 742500"/>
                <a:gd name="csY1" fmla="*/ 0 h 657389"/>
                <a:gd name="csX2" fmla="*/ 742500 w 742500"/>
                <a:gd name="csY2" fmla="*/ 657389 h 657389"/>
                <a:gd name="csX3" fmla="*/ 0 w 742500"/>
                <a:gd name="csY3" fmla="*/ 657389 h 657389"/>
                <a:gd name="csX4" fmla="*/ 0 w 742500"/>
                <a:gd name="csY4" fmla="*/ 0 h 6573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42500" h="657389">
                  <a:moveTo>
                    <a:pt x="0" y="0"/>
                  </a:moveTo>
                  <a:lnTo>
                    <a:pt x="742500" y="0"/>
                  </a:lnTo>
                  <a:lnTo>
                    <a:pt x="742500" y="657389"/>
                  </a:lnTo>
                  <a:lnTo>
                    <a:pt x="0" y="657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 err="1">
                  <a:solidFill>
                    <a:schemeClr val="tx1"/>
                  </a:solidFill>
                </a:rPr>
                <a:t>X_pomme</a:t>
              </a:r>
              <a:endParaRPr lang="en-US" sz="1000" kern="1200" dirty="0">
                <a:solidFill>
                  <a:schemeClr val="tx1"/>
                </a:solidFill>
              </a:endParaRP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dirty="0" err="1">
                  <a:solidFill>
                    <a:schemeClr val="tx1"/>
                  </a:solidFill>
                </a:rPr>
                <a:t>Y_pomme</a:t>
              </a:r>
              <a:endParaRPr lang="en-US" sz="1000" kern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A6F9355-A393-F41E-6508-0686BA675CC2}"/>
                </a:ext>
              </a:extLst>
            </p:cNvPr>
            <p:cNvSpPr/>
            <p:nvPr/>
          </p:nvSpPr>
          <p:spPr>
            <a:xfrm>
              <a:off x="6370557" y="4071149"/>
              <a:ext cx="719999" cy="248981"/>
            </a:xfrm>
            <a:custGeom>
              <a:avLst/>
              <a:gdLst>
                <a:gd name="csX0" fmla="*/ 0 w 720000"/>
                <a:gd name="csY0" fmla="*/ 0 h 657389"/>
                <a:gd name="csX1" fmla="*/ 720000 w 720000"/>
                <a:gd name="csY1" fmla="*/ 0 h 657389"/>
                <a:gd name="csX2" fmla="*/ 720000 w 720000"/>
                <a:gd name="csY2" fmla="*/ 657389 h 657389"/>
                <a:gd name="csX3" fmla="*/ 0 w 720000"/>
                <a:gd name="csY3" fmla="*/ 657389 h 657389"/>
                <a:gd name="csX4" fmla="*/ 0 w 720000"/>
                <a:gd name="csY4" fmla="*/ 0 h 6573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0000" h="657389">
                  <a:moveTo>
                    <a:pt x="0" y="0"/>
                  </a:moveTo>
                  <a:lnTo>
                    <a:pt x="720000" y="0"/>
                  </a:lnTo>
                  <a:lnTo>
                    <a:pt x="720000" y="657389"/>
                  </a:lnTo>
                  <a:lnTo>
                    <a:pt x="0" y="657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n</a:t>
              </a: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AEC1C96-4F1D-2D6F-110B-987B9570D545}"/>
                </a:ext>
              </a:extLst>
            </p:cNvPr>
            <p:cNvSpPr/>
            <p:nvPr/>
          </p:nvSpPr>
          <p:spPr>
            <a:xfrm>
              <a:off x="6370557" y="4391253"/>
              <a:ext cx="719999" cy="2083426"/>
            </a:xfrm>
            <a:custGeom>
              <a:avLst/>
              <a:gdLst>
                <a:gd name="csX0" fmla="*/ 0 w 945000"/>
                <a:gd name="csY0" fmla="*/ 0 h 657389"/>
                <a:gd name="csX1" fmla="*/ 945000 w 945000"/>
                <a:gd name="csY1" fmla="*/ 0 h 657389"/>
                <a:gd name="csX2" fmla="*/ 945000 w 945000"/>
                <a:gd name="csY2" fmla="*/ 657389 h 657389"/>
                <a:gd name="csX3" fmla="*/ 0 w 945000"/>
                <a:gd name="csY3" fmla="*/ 657389 h 657389"/>
                <a:gd name="csX4" fmla="*/ 0 w 945000"/>
                <a:gd name="csY4" fmla="*/ 0 h 6573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45000" h="657389">
                  <a:moveTo>
                    <a:pt x="0" y="0"/>
                  </a:moveTo>
                  <a:lnTo>
                    <a:pt x="945000" y="0"/>
                  </a:lnTo>
                  <a:lnTo>
                    <a:pt x="945000" y="657389"/>
                  </a:lnTo>
                  <a:lnTo>
                    <a:pt x="0" y="657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X0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dirty="0"/>
                <a:t>Y0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X1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dirty="0"/>
                <a:t>Y1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X2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dirty="0"/>
                <a:t>Y2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…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dirty="0"/>
                <a:t>X255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Y255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2DF8E3-0135-DACE-951D-F4E3A8AE38EC}"/>
              </a:ext>
            </a:extLst>
          </p:cNvPr>
          <p:cNvGrpSpPr/>
          <p:nvPr/>
        </p:nvGrpSpPr>
        <p:grpSpPr>
          <a:xfrm>
            <a:off x="4809067" y="2237204"/>
            <a:ext cx="1286933" cy="4237476"/>
            <a:chOff x="5076184" y="3372592"/>
            <a:chExt cx="1010802" cy="1712461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77BF77-D472-B6A2-1D49-6D4F9D1E25B7}"/>
                </a:ext>
              </a:extLst>
            </p:cNvPr>
            <p:cNvSpPr/>
            <p:nvPr/>
          </p:nvSpPr>
          <p:spPr>
            <a:xfrm>
              <a:off x="5076184" y="3394027"/>
              <a:ext cx="800478" cy="158400"/>
            </a:xfrm>
            <a:custGeom>
              <a:avLst/>
              <a:gdLst>
                <a:gd name="csX0" fmla="*/ 0 w 800478"/>
                <a:gd name="csY0" fmla="*/ 0 h 158400"/>
                <a:gd name="csX1" fmla="*/ 800478 w 800478"/>
                <a:gd name="csY1" fmla="*/ 0 h 158400"/>
                <a:gd name="csX2" fmla="*/ 800478 w 800478"/>
                <a:gd name="csY2" fmla="*/ 158400 h 158400"/>
                <a:gd name="csX3" fmla="*/ 0 w 800478"/>
                <a:gd name="csY3" fmla="*/ 158400 h 158400"/>
                <a:gd name="csX4" fmla="*/ 0 w 800478"/>
                <a:gd name="csY4" fmla="*/ 0 h 158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0478" h="158400">
                  <a:moveTo>
                    <a:pt x="0" y="0"/>
                  </a:moveTo>
                  <a:lnTo>
                    <a:pt x="800478" y="0"/>
                  </a:lnTo>
                  <a:lnTo>
                    <a:pt x="800478" y="158400"/>
                  </a:lnTo>
                  <a:lnTo>
                    <a:pt x="0" y="1584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896" tIns="20320" rIns="56896" bIns="2032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kern="1200" dirty="0">
                  <a:solidFill>
                    <a:schemeClr val="bg1"/>
                  </a:solidFill>
                </a:rPr>
                <a:t>score</a:t>
              </a:r>
            </a:p>
          </p:txBody>
        </p:sp>
        <p:sp>
          <p:nvSpPr>
            <p:cNvPr id="16" name="Left Brace 15">
              <a:extLst>
                <a:ext uri="{FF2B5EF4-FFF2-40B4-BE49-F238E27FC236}">
                  <a16:creationId xmlns:a16="http://schemas.microsoft.com/office/drawing/2014/main" id="{330636C2-5472-424C-D853-262C25396F92}"/>
                </a:ext>
              </a:extLst>
            </p:cNvPr>
            <p:cNvSpPr/>
            <p:nvPr/>
          </p:nvSpPr>
          <p:spPr>
            <a:xfrm>
              <a:off x="5910144" y="3372592"/>
              <a:ext cx="159939" cy="173542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E23608-32EA-C42A-294A-4960B7841376}"/>
                </a:ext>
              </a:extLst>
            </p:cNvPr>
            <p:cNvSpPr/>
            <p:nvPr/>
          </p:nvSpPr>
          <p:spPr>
            <a:xfrm>
              <a:off x="5076184" y="3642432"/>
              <a:ext cx="799696" cy="167419"/>
            </a:xfrm>
            <a:custGeom>
              <a:avLst/>
              <a:gdLst>
                <a:gd name="csX0" fmla="*/ 0 w 799696"/>
                <a:gd name="csY0" fmla="*/ 0 h 267300"/>
                <a:gd name="csX1" fmla="*/ 799696 w 799696"/>
                <a:gd name="csY1" fmla="*/ 0 h 267300"/>
                <a:gd name="csX2" fmla="*/ 799696 w 799696"/>
                <a:gd name="csY2" fmla="*/ 267300 h 267300"/>
                <a:gd name="csX3" fmla="*/ 0 w 799696"/>
                <a:gd name="csY3" fmla="*/ 267300 h 267300"/>
                <a:gd name="csX4" fmla="*/ 0 w 799696"/>
                <a:gd name="csY4" fmla="*/ 0 h 267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9696" h="267300">
                  <a:moveTo>
                    <a:pt x="0" y="0"/>
                  </a:moveTo>
                  <a:lnTo>
                    <a:pt x="799696" y="0"/>
                  </a:lnTo>
                  <a:lnTo>
                    <a:pt x="799696" y="267300"/>
                  </a:lnTo>
                  <a:lnTo>
                    <a:pt x="0" y="2673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896" tIns="20320" rIns="56896" bIns="2032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kern="1200" dirty="0">
                  <a:solidFill>
                    <a:schemeClr val="bg1"/>
                  </a:solidFill>
                </a:rPr>
                <a:t>Distance des bords</a:t>
              </a:r>
            </a:p>
          </p:txBody>
        </p:sp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93EBF132-A314-C72D-3729-FA484680823A}"/>
                </a:ext>
              </a:extLst>
            </p:cNvPr>
            <p:cNvSpPr/>
            <p:nvPr/>
          </p:nvSpPr>
          <p:spPr>
            <a:xfrm>
              <a:off x="5903041" y="3573981"/>
              <a:ext cx="166643" cy="295968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8A7FEE9-E571-A329-2F0B-FA1C6901790A}"/>
                </a:ext>
              </a:extLst>
            </p:cNvPr>
            <p:cNvSpPr/>
            <p:nvPr/>
          </p:nvSpPr>
          <p:spPr>
            <a:xfrm>
              <a:off x="5076184" y="3912082"/>
              <a:ext cx="799696" cy="158400"/>
            </a:xfrm>
            <a:custGeom>
              <a:avLst/>
              <a:gdLst>
                <a:gd name="csX0" fmla="*/ 0 w 799696"/>
                <a:gd name="csY0" fmla="*/ 0 h 267300"/>
                <a:gd name="csX1" fmla="*/ 799696 w 799696"/>
                <a:gd name="csY1" fmla="*/ 0 h 267300"/>
                <a:gd name="csX2" fmla="*/ 799696 w 799696"/>
                <a:gd name="csY2" fmla="*/ 267300 h 267300"/>
                <a:gd name="csX3" fmla="*/ 0 w 799696"/>
                <a:gd name="csY3" fmla="*/ 267300 h 267300"/>
                <a:gd name="csX4" fmla="*/ 0 w 799696"/>
                <a:gd name="csY4" fmla="*/ 0 h 267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9696" h="267300">
                  <a:moveTo>
                    <a:pt x="0" y="0"/>
                  </a:moveTo>
                  <a:lnTo>
                    <a:pt x="799696" y="0"/>
                  </a:lnTo>
                  <a:lnTo>
                    <a:pt x="799696" y="267300"/>
                  </a:lnTo>
                  <a:lnTo>
                    <a:pt x="0" y="2673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896" tIns="20320" rIns="56896" bIns="2032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kern="1200" dirty="0" err="1">
                  <a:solidFill>
                    <a:schemeClr val="bg1"/>
                  </a:solidFill>
                </a:rPr>
                <a:t>Coordonnées</a:t>
              </a:r>
              <a:r>
                <a:rPr lang="en-US" sz="800" kern="1200" dirty="0">
                  <a:solidFill>
                    <a:schemeClr val="bg1"/>
                  </a:solidFill>
                </a:rPr>
                <a:t> de la pomme</a:t>
              </a:r>
            </a:p>
          </p:txBody>
        </p:sp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628DD699-395A-8543-15C4-EB45C0897F67}"/>
                </a:ext>
              </a:extLst>
            </p:cNvPr>
            <p:cNvSpPr/>
            <p:nvPr/>
          </p:nvSpPr>
          <p:spPr>
            <a:xfrm>
              <a:off x="5909747" y="3907900"/>
              <a:ext cx="160734" cy="173542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F2B3E8E-CC0B-C2FC-FFBF-8423EA65259C}"/>
                </a:ext>
              </a:extLst>
            </p:cNvPr>
            <p:cNvSpPr/>
            <p:nvPr/>
          </p:nvSpPr>
          <p:spPr>
            <a:xfrm>
              <a:off x="5134221" y="4101011"/>
              <a:ext cx="683622" cy="126057"/>
            </a:xfrm>
            <a:custGeom>
              <a:avLst/>
              <a:gdLst>
                <a:gd name="csX0" fmla="*/ 0 w 799696"/>
                <a:gd name="csY0" fmla="*/ 0 h 267300"/>
                <a:gd name="csX1" fmla="*/ 799696 w 799696"/>
                <a:gd name="csY1" fmla="*/ 0 h 267300"/>
                <a:gd name="csX2" fmla="*/ 799696 w 799696"/>
                <a:gd name="csY2" fmla="*/ 267300 h 267300"/>
                <a:gd name="csX3" fmla="*/ 0 w 799696"/>
                <a:gd name="csY3" fmla="*/ 267300 h 267300"/>
                <a:gd name="csX4" fmla="*/ 0 w 799696"/>
                <a:gd name="csY4" fmla="*/ 0 h 267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9696" h="267300">
                  <a:moveTo>
                    <a:pt x="0" y="0"/>
                  </a:moveTo>
                  <a:lnTo>
                    <a:pt x="799696" y="0"/>
                  </a:lnTo>
                  <a:lnTo>
                    <a:pt x="799696" y="267300"/>
                  </a:lnTo>
                  <a:lnTo>
                    <a:pt x="0" y="2673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896" tIns="20320" rIns="56896" bIns="2032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kern="1200" dirty="0">
                  <a:solidFill>
                    <a:schemeClr val="bg1"/>
                  </a:solidFill>
                </a:rPr>
                <a:t>Taille du serpent</a:t>
              </a:r>
            </a:p>
          </p:txBody>
        </p:sp>
        <p:sp>
          <p:nvSpPr>
            <p:cNvPr id="22" name="Left Brace 21">
              <a:extLst>
                <a:ext uri="{FF2B5EF4-FFF2-40B4-BE49-F238E27FC236}">
                  <a16:creationId xmlns:a16="http://schemas.microsoft.com/office/drawing/2014/main" id="{1A829AB6-6619-A067-FA3B-1E7FD19F475F}"/>
                </a:ext>
              </a:extLst>
            </p:cNvPr>
            <p:cNvSpPr/>
            <p:nvPr/>
          </p:nvSpPr>
          <p:spPr>
            <a:xfrm>
              <a:off x="5910723" y="4113731"/>
              <a:ext cx="159938" cy="100619"/>
            </a:xfrm>
            <a:prstGeom prst="leftBrace">
              <a:avLst>
                <a:gd name="adj1" fmla="val 35000"/>
                <a:gd name="adj2" fmla="val 483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42911E1-C000-350D-9798-B392FB148C6D}"/>
                </a:ext>
              </a:extLst>
            </p:cNvPr>
            <p:cNvSpPr/>
            <p:nvPr/>
          </p:nvSpPr>
          <p:spPr>
            <a:xfrm>
              <a:off x="5076184" y="4336797"/>
              <a:ext cx="799696" cy="613800"/>
            </a:xfrm>
            <a:custGeom>
              <a:avLst/>
              <a:gdLst>
                <a:gd name="csX0" fmla="*/ 0 w 799696"/>
                <a:gd name="csY0" fmla="*/ 0 h 613800"/>
                <a:gd name="csX1" fmla="*/ 799696 w 799696"/>
                <a:gd name="csY1" fmla="*/ 0 h 613800"/>
                <a:gd name="csX2" fmla="*/ 799696 w 799696"/>
                <a:gd name="csY2" fmla="*/ 613800 h 613800"/>
                <a:gd name="csX3" fmla="*/ 0 w 799696"/>
                <a:gd name="csY3" fmla="*/ 613800 h 613800"/>
                <a:gd name="csX4" fmla="*/ 0 w 799696"/>
                <a:gd name="csY4" fmla="*/ 0 h 613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9696" h="613800">
                  <a:moveTo>
                    <a:pt x="0" y="0"/>
                  </a:moveTo>
                  <a:lnTo>
                    <a:pt x="799696" y="0"/>
                  </a:lnTo>
                  <a:lnTo>
                    <a:pt x="799696" y="613800"/>
                  </a:lnTo>
                  <a:lnTo>
                    <a:pt x="0" y="613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896" tIns="20320" rIns="56896" bIns="2032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kern="1200" dirty="0" err="1">
                  <a:solidFill>
                    <a:schemeClr val="bg1"/>
                  </a:solidFill>
                </a:rPr>
                <a:t>Coordonnées</a:t>
              </a:r>
              <a:r>
                <a:rPr lang="en-US" sz="800" kern="1200" dirty="0">
                  <a:solidFill>
                    <a:schemeClr val="bg1"/>
                  </a:solidFill>
                </a:rPr>
                <a:t> des parties du corps du serpents + padding </a:t>
              </a:r>
            </a:p>
          </p:txBody>
        </p:sp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0629939F-8994-4628-9361-4F97EC44C6DD}"/>
                </a:ext>
              </a:extLst>
            </p:cNvPr>
            <p:cNvSpPr/>
            <p:nvPr/>
          </p:nvSpPr>
          <p:spPr>
            <a:xfrm>
              <a:off x="5903040" y="4252720"/>
              <a:ext cx="183946" cy="832333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655B542C-8412-4417-BB1C-D6479391A23C}"/>
              </a:ext>
            </a:extLst>
          </p:cNvPr>
          <p:cNvSpPr/>
          <p:nvPr/>
        </p:nvSpPr>
        <p:spPr>
          <a:xfrm>
            <a:off x="1483079" y="2662765"/>
            <a:ext cx="369394" cy="542850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7E75312-1BE5-3776-F405-7D911E2B4BA8}"/>
              </a:ext>
            </a:extLst>
          </p:cNvPr>
          <p:cNvCxnSpPr>
            <a:cxnSpLocks/>
          </p:cNvCxnSpPr>
          <p:nvPr/>
        </p:nvCxnSpPr>
        <p:spPr>
          <a:xfrm>
            <a:off x="3221595" y="2682205"/>
            <a:ext cx="0" cy="746795"/>
          </a:xfrm>
          <a:prstGeom prst="straightConnector1">
            <a:avLst/>
          </a:prstGeom>
          <a:ln>
            <a:solidFill>
              <a:srgbClr val="C349C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A1A1FC9-3911-17F0-8825-9CCD862F0CFC}"/>
              </a:ext>
            </a:extLst>
          </p:cNvPr>
          <p:cNvCxnSpPr>
            <a:cxnSpLocks/>
          </p:cNvCxnSpPr>
          <p:nvPr/>
        </p:nvCxnSpPr>
        <p:spPr>
          <a:xfrm flipH="1">
            <a:off x="3409319" y="3556260"/>
            <a:ext cx="685296" cy="0"/>
          </a:xfrm>
          <a:prstGeom prst="straightConnector1">
            <a:avLst/>
          </a:prstGeom>
          <a:ln>
            <a:solidFill>
              <a:srgbClr val="C349C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F5BB7F-69F6-C474-78CE-814F75D40328}"/>
              </a:ext>
            </a:extLst>
          </p:cNvPr>
          <p:cNvCxnSpPr>
            <a:cxnSpLocks/>
          </p:cNvCxnSpPr>
          <p:nvPr/>
        </p:nvCxnSpPr>
        <p:spPr>
          <a:xfrm flipH="1">
            <a:off x="1551250" y="3570596"/>
            <a:ext cx="1288788" cy="0"/>
          </a:xfrm>
          <a:prstGeom prst="straightConnector1">
            <a:avLst/>
          </a:prstGeom>
          <a:ln>
            <a:solidFill>
              <a:srgbClr val="C349C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1A692FE-7740-D259-0C27-E36B21E22E0B}"/>
              </a:ext>
            </a:extLst>
          </p:cNvPr>
          <p:cNvSpPr/>
          <p:nvPr/>
        </p:nvSpPr>
        <p:spPr>
          <a:xfrm>
            <a:off x="2058484" y="2764038"/>
            <a:ext cx="369391" cy="358280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20BC8F4-7519-AACD-093F-23B3214F39CA}"/>
              </a:ext>
            </a:extLst>
          </p:cNvPr>
          <p:cNvCxnSpPr>
            <a:cxnSpLocks/>
          </p:cNvCxnSpPr>
          <p:nvPr/>
        </p:nvCxnSpPr>
        <p:spPr>
          <a:xfrm>
            <a:off x="2923113" y="3521698"/>
            <a:ext cx="0" cy="1123651"/>
          </a:xfrm>
          <a:prstGeom prst="straightConnector1">
            <a:avLst/>
          </a:prstGeom>
          <a:ln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975AACD6-5217-E61F-DD18-133DB72FD004}"/>
              </a:ext>
            </a:extLst>
          </p:cNvPr>
          <p:cNvSpPr/>
          <p:nvPr/>
        </p:nvSpPr>
        <p:spPr>
          <a:xfrm>
            <a:off x="3116262" y="3515348"/>
            <a:ext cx="182555" cy="1581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43E6713-4AB3-8651-EBDE-E7177A6B688B}"/>
              </a:ext>
            </a:extLst>
          </p:cNvPr>
          <p:cNvSpPr/>
          <p:nvPr/>
        </p:nvSpPr>
        <p:spPr>
          <a:xfrm>
            <a:off x="3116262" y="3680759"/>
            <a:ext cx="182555" cy="1581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EA35B1-F633-A077-4544-FA87DEFE9E0A}"/>
              </a:ext>
            </a:extLst>
          </p:cNvPr>
          <p:cNvSpPr/>
          <p:nvPr/>
        </p:nvSpPr>
        <p:spPr>
          <a:xfrm>
            <a:off x="3116262" y="3841371"/>
            <a:ext cx="182555" cy="1581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4C89A0D-B83B-5EFF-FE6E-5FFED3B01CB8}"/>
              </a:ext>
            </a:extLst>
          </p:cNvPr>
          <p:cNvSpPr/>
          <p:nvPr/>
        </p:nvSpPr>
        <p:spPr>
          <a:xfrm>
            <a:off x="3116262" y="3998188"/>
            <a:ext cx="182555" cy="1581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707B973-6BA7-8645-0750-A53B0E658DB6}"/>
              </a:ext>
            </a:extLst>
          </p:cNvPr>
          <p:cNvSpPr/>
          <p:nvPr/>
        </p:nvSpPr>
        <p:spPr>
          <a:xfrm>
            <a:off x="3116262" y="4162903"/>
            <a:ext cx="182555" cy="1581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BD8DE82-A9DE-A461-8155-2EC5D3A96ED8}"/>
              </a:ext>
            </a:extLst>
          </p:cNvPr>
          <p:cNvSpPr/>
          <p:nvPr/>
        </p:nvSpPr>
        <p:spPr>
          <a:xfrm>
            <a:off x="3116262" y="4326508"/>
            <a:ext cx="182555" cy="1581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AAF6F9-F0E2-18A8-7341-5FD0643D1954}"/>
              </a:ext>
            </a:extLst>
          </p:cNvPr>
          <p:cNvSpPr/>
          <p:nvPr/>
        </p:nvSpPr>
        <p:spPr>
          <a:xfrm>
            <a:off x="3116262" y="4493519"/>
            <a:ext cx="182555" cy="1581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7A458B-33AA-806D-3D4B-84C7F444A59A}"/>
              </a:ext>
            </a:extLst>
          </p:cNvPr>
          <p:cNvSpPr txBox="1"/>
          <p:nvPr/>
        </p:nvSpPr>
        <p:spPr>
          <a:xfrm>
            <a:off x="8326490" y="1643257"/>
            <a:ext cx="282371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u="sng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Notes :</a:t>
            </a:r>
            <a:endParaRPr lang="fr-FR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fr-FR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coordonnée de la pomme  est centrée par rapport à la tête du serpent =&gt; le réseau apprend à minimiser ses coordonnées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Chaque partie du corps serpent est représentée par sa coordonnée par rapport à la tête =&gt; évite les relations d’ordre (0: vide, 1: serpent…) car il n’y a pas d’ordre entre les différents éléments du jeu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Taille du vecteur: 520</a:t>
            </a:r>
            <a:endParaRPr lang="fr-FR" sz="14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36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2E764A-91CD-8D3E-4097-42A225385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8D9C1F-4E11-4D49-CA7A-296D951DC6CF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C585DC-A4BF-F85D-6680-5717D2C4B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8ABB2A-262B-7A51-BB54-E8C9F46BD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A9F710D-B030-C829-15DE-9930A54A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Librairie </a:t>
            </a:r>
            <a:r>
              <a:rPr lang="fr-FR" sz="3600" noProof="0" dirty="0" err="1">
                <a:solidFill>
                  <a:schemeClr val="bg1"/>
                </a:solidFill>
                <a:latin typeface="Arial Black" panose="020B0A04020102020204" pitchFamily="34" charset="0"/>
              </a:rPr>
              <a:t>ML_lib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46918E-71AD-9FFD-BF40-5E9AF069CD82}"/>
              </a:ext>
            </a:extLst>
          </p:cNvPr>
          <p:cNvSpPr/>
          <p:nvPr/>
        </p:nvSpPr>
        <p:spPr>
          <a:xfrm>
            <a:off x="1762187" y="2447054"/>
            <a:ext cx="4099661" cy="1822165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A8061-9831-F739-55AE-D8BDB031147D}"/>
              </a:ext>
            </a:extLst>
          </p:cNvPr>
          <p:cNvSpPr txBox="1"/>
          <p:nvPr/>
        </p:nvSpPr>
        <p:spPr>
          <a:xfrm>
            <a:off x="2864308" y="1984462"/>
            <a:ext cx="1895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ML_lib.dll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F6FDD8-2667-4D28-91D6-E71085DA4C6B}"/>
              </a:ext>
            </a:extLst>
          </p:cNvPr>
          <p:cNvSpPr/>
          <p:nvPr/>
        </p:nvSpPr>
        <p:spPr>
          <a:xfrm>
            <a:off x="2446470" y="2828311"/>
            <a:ext cx="835676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MLP.cpp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A4DFDB-E1FE-91B1-1C6A-88FD36DB6FC8}"/>
              </a:ext>
            </a:extLst>
          </p:cNvPr>
          <p:cNvSpPr/>
          <p:nvPr/>
        </p:nvSpPr>
        <p:spPr>
          <a:xfrm>
            <a:off x="4128425" y="2828311"/>
            <a:ext cx="1417014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LinearModel.cpp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F09AC31-BD38-3C0A-765C-B78EDE5494BB}"/>
              </a:ext>
            </a:extLst>
          </p:cNvPr>
          <p:cNvSpPr/>
          <p:nvPr/>
        </p:nvSpPr>
        <p:spPr>
          <a:xfrm>
            <a:off x="3236730" y="3776047"/>
            <a:ext cx="1150573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Library.cpp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F21FC82-B0DC-DC04-4A0F-F270FE662EDE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 rot="16200000" flipH="1">
            <a:off x="3048960" y="3012990"/>
            <a:ext cx="578404" cy="947709"/>
          </a:xfrm>
          <a:prstGeom prst="bentConnector3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ACB6D01-55A3-61E7-1494-65CAD9EC21CB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 rot="5400000">
            <a:off x="4035273" y="2974388"/>
            <a:ext cx="578404" cy="1024915"/>
          </a:xfrm>
          <a:prstGeom prst="bentConnector3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row: Down 23">
            <a:extLst>
              <a:ext uri="{FF2B5EF4-FFF2-40B4-BE49-F238E27FC236}">
                <a16:creationId xmlns:a16="http://schemas.microsoft.com/office/drawing/2014/main" id="{869A9EA3-84F2-C3AC-7E67-961F1A88DA30}"/>
              </a:ext>
            </a:extLst>
          </p:cNvPr>
          <p:cNvSpPr/>
          <p:nvPr/>
        </p:nvSpPr>
        <p:spPr>
          <a:xfrm>
            <a:off x="3681823" y="4211659"/>
            <a:ext cx="248280" cy="7600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B329230-B56E-D50A-B506-836C4CB8C3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48" r="6048"/>
          <a:stretch/>
        </p:blipFill>
        <p:spPr>
          <a:xfrm>
            <a:off x="3045242" y="5019807"/>
            <a:ext cx="760721" cy="760721"/>
          </a:xfrm>
          <a:prstGeom prst="roundRect">
            <a:avLst/>
          </a:prstGeom>
        </p:spPr>
      </p:pic>
      <p:pic>
        <p:nvPicPr>
          <p:cNvPr id="36" name="Picture 35" descr="A logo of a company&#10;&#10;AI-generated content may be incorrect.">
            <a:extLst>
              <a:ext uri="{FF2B5EF4-FFF2-40B4-BE49-F238E27FC236}">
                <a16:creationId xmlns:a16="http://schemas.microsoft.com/office/drawing/2014/main" id="{8F4D19AC-4AF7-65DC-8267-5124FAFE5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405" y="5342699"/>
            <a:ext cx="863725" cy="971928"/>
          </a:xfrm>
          <a:prstGeom prst="rect">
            <a:avLst/>
          </a:prstGeom>
        </p:spPr>
      </p:pic>
      <p:pic>
        <p:nvPicPr>
          <p:cNvPr id="38" name="Picture 37" descr="A hexagon with a white circle and white text&#10;&#10;AI-generated content may be incorrect.">
            <a:extLst>
              <a:ext uri="{FF2B5EF4-FFF2-40B4-BE49-F238E27FC236}">
                <a16:creationId xmlns:a16="http://schemas.microsoft.com/office/drawing/2014/main" id="{0302AA45-95B5-DC23-1662-E09539E5F7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191" y="2214468"/>
            <a:ext cx="601265" cy="67779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627B144-C57E-F50F-C199-0C7B2F183D07}"/>
              </a:ext>
            </a:extLst>
          </p:cNvPr>
          <p:cNvSpPr txBox="1"/>
          <p:nvPr/>
        </p:nvSpPr>
        <p:spPr>
          <a:xfrm>
            <a:off x="7045724" y="2012703"/>
            <a:ext cx="362732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 err="1">
                <a:solidFill>
                  <a:srgbClr val="39CC9B"/>
                </a:solidFill>
                <a:latin typeface="JetBrains Mono"/>
                <a:cs typeface="Arial" panose="020B0604020202020204" pitchFamily="34" charset="0"/>
              </a:rPr>
              <a:t>LinearModel</a:t>
            </a:r>
            <a:r>
              <a:rPr lang="fr-FR" noProof="0" dirty="0">
                <a:solidFill>
                  <a:srgbClr val="39CC9B"/>
                </a:solidFill>
                <a:latin typeface="JetBrains Mono"/>
                <a:cs typeface="Arial" panose="020B0604020202020204" pitchFamily="34" charset="0"/>
              </a:rPr>
              <a:t>:</a:t>
            </a:r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contient les classes pour les modèles linéaires (</a:t>
            </a:r>
            <a:r>
              <a:rPr lang="fr-FR" sz="14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PerceptronModel</a:t>
            </a:r>
            <a:r>
              <a:rPr lang="fr-FR" sz="1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4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LinearRegressor</a:t>
            </a:r>
            <a:r>
              <a:rPr lang="fr-FR" sz="1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fr-F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rgbClr val="39CC9B"/>
                </a:solidFill>
                <a:latin typeface="JetBrains Mono"/>
                <a:cs typeface="Arial" panose="020B0604020202020204" pitchFamily="34" charset="0"/>
              </a:rPr>
              <a:t>MLP: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contient la classe pour le PMC</a:t>
            </a:r>
          </a:p>
          <a:p>
            <a:endParaRPr lang="fr-FR" sz="14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rgbClr val="39CC9B"/>
                </a:solidFill>
                <a:latin typeface="JetBrains Mono"/>
                <a:cs typeface="Arial" panose="020B0604020202020204" pitchFamily="34" charset="0"/>
              </a:rPr>
              <a:t>Library: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permet l’export des méthodes vers les langages python et C# notamment</a:t>
            </a:r>
          </a:p>
        </p:txBody>
      </p:sp>
    </p:spTree>
    <p:extLst>
      <p:ext uri="{BB962C8B-B14F-4D97-AF65-F5344CB8AC3E}">
        <p14:creationId xmlns:p14="http://schemas.microsoft.com/office/powerpoint/2010/main" val="3733201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68C96-52D3-9B57-C588-EF58E8945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A7745F-011D-CC03-DA7A-BDC031876815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A4B1A-7E3E-F47B-9274-C13981126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2729BB-C810-69B9-AD3C-8969D9F7C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F15FA10-0A40-F021-5847-40948EF8B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644" y="3076038"/>
            <a:ext cx="7730712" cy="705923"/>
          </a:xfrm>
        </p:spPr>
        <p:txBody>
          <a:bodyPr anchor="ctr">
            <a:normAutofit/>
          </a:bodyPr>
          <a:lstStyle/>
          <a:p>
            <a:pPr algn="ctr"/>
            <a:r>
              <a:rPr lang="fr-FR" sz="3600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Entraînement des modèles </a:t>
            </a:r>
          </a:p>
        </p:txBody>
      </p:sp>
    </p:spTree>
    <p:extLst>
      <p:ext uri="{BB962C8B-B14F-4D97-AF65-F5344CB8AC3E}">
        <p14:creationId xmlns:p14="http://schemas.microsoft.com/office/powerpoint/2010/main" val="805101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2C16C-7D21-D782-2964-F2103BB5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E3D721-4FE5-7B68-5ADC-D0E4E91C06AA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4149F-33FF-0CFA-6ACD-E0A64D6C7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4AEC06-7EFA-ED87-2587-2F8191995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095FB94-286C-213C-AB0A-DF346FB36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Le </a:t>
            </a:r>
            <a:r>
              <a:rPr lang="fr-FR" sz="3600" noProof="0" dirty="0" err="1">
                <a:solidFill>
                  <a:schemeClr val="bg1"/>
                </a:solidFill>
                <a:latin typeface="Arial Black" panose="020B0A04020102020204" pitchFamily="34" charset="0"/>
              </a:rPr>
              <a:t>dataset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7DBAD-7053-B035-132B-04B818A39452}"/>
              </a:ext>
            </a:extLst>
          </p:cNvPr>
          <p:cNvSpPr txBox="1"/>
          <p:nvPr/>
        </p:nvSpPr>
        <p:spPr>
          <a:xfrm>
            <a:off x="1128672" y="1154268"/>
            <a:ext cx="60169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Composé de plusieurs fichiers csv où : chaque exemple représente un état du jeu associé à une </a:t>
            </a:r>
            <a:r>
              <a:rPr lang="fr-FR" sz="1400" b="1" dirty="0">
                <a:solidFill>
                  <a:srgbClr val="C349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performée par le joueur humain. Un </a:t>
            </a:r>
            <a:r>
              <a:rPr lang="fr-FR" sz="1400" b="1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prétraitement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 réalisé.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BDE09-61BB-4874-A2DB-89A3BD44641F}"/>
              </a:ext>
            </a:extLst>
          </p:cNvPr>
          <p:cNvSpPr txBox="1"/>
          <p:nvPr/>
        </p:nvSpPr>
        <p:spPr>
          <a:xfrm>
            <a:off x="1918472" y="2219278"/>
            <a:ext cx="3627322" cy="2553891"/>
          </a:xfrm>
          <a:prstGeom prst="roundRect">
            <a:avLst/>
          </a:prstGeom>
          <a:noFill/>
          <a:ln w="12700">
            <a:solidFill>
              <a:srgbClr val="C349C6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b="1" u="sng" dirty="0">
                <a:solidFill>
                  <a:srgbClr val="C349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Notion d’action</a:t>
            </a:r>
            <a:endParaRPr lang="fr-FR" sz="1200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le jeu </a:t>
            </a: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snake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représentée par 4 coup possible:</a:t>
            </a:r>
          </a:p>
          <a:p>
            <a:pPr marL="285750" indent="-285750">
              <a:buFontTx/>
              <a:buChar char="-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Haut (Up)</a:t>
            </a:r>
          </a:p>
          <a:p>
            <a:pPr marL="285750" indent="-285750">
              <a:buFontTx/>
              <a:buChar char="-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Droite (Right)</a:t>
            </a:r>
          </a:p>
          <a:p>
            <a:pPr marL="285750" indent="-285750">
              <a:buFontTx/>
              <a:buChar char="-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 (Down)</a:t>
            </a:r>
          </a:p>
          <a:p>
            <a:pPr marL="285750" indent="-285750">
              <a:buFontTx/>
              <a:buChar char="-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Gauche (</a:t>
            </a: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Ici une action est représentée par un vecteur one hot  </a:t>
            </a:r>
            <a:r>
              <a:rPr lang="fr-FR" sz="1200" dirty="0">
                <a:solidFill>
                  <a:srgbClr val="C349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[Up, Right, Down, </a:t>
            </a:r>
            <a:r>
              <a:rPr lang="fr-FR" sz="1200" dirty="0" err="1">
                <a:solidFill>
                  <a:srgbClr val="C349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fr-FR" sz="1200" dirty="0">
                <a:solidFill>
                  <a:srgbClr val="C349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coup effectué est mis à 1 et tous les autres à 0.</a:t>
            </a:r>
            <a:endParaRPr lang="fr-FR" sz="1200" dirty="0">
              <a:solidFill>
                <a:srgbClr val="C349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8CD91D-D018-40B5-AB9D-D2004C022203}"/>
              </a:ext>
            </a:extLst>
          </p:cNvPr>
          <p:cNvSpPr txBox="1"/>
          <p:nvPr/>
        </p:nvSpPr>
        <p:spPr>
          <a:xfrm>
            <a:off x="6646208" y="2248733"/>
            <a:ext cx="3627322" cy="2145268"/>
          </a:xfrm>
          <a:prstGeom prst="roundRect">
            <a:avLst/>
          </a:prstGeom>
          <a:noFill/>
          <a:ln w="12700">
            <a:solidFill>
              <a:srgbClr val="33CCCC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b="1" u="sng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Prétraitement</a:t>
            </a:r>
            <a:endParaRPr lang="fr-FR" sz="1200" u="sng" dirty="0">
              <a:solidFill>
                <a:srgbClr val="33CC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AutoNum type="arabicParenR"/>
            </a:pPr>
            <a:r>
              <a:rPr lang="fr-FR" sz="1200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Remplace les actions vide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[0, 0, 0, 0] par la dernière action. Modèle avait du mal à prédire le fait qu’il ne se passe rien. </a:t>
            </a:r>
          </a:p>
          <a:p>
            <a:pPr marL="228600" indent="-228600">
              <a:buAutoNum type="arabicParenR"/>
            </a:pPr>
            <a:endParaRPr lang="fr-FR" sz="1200" dirty="0">
              <a:solidFill>
                <a:srgbClr val="C349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AutoNum type="arabicParenR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fr-FR" sz="1200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retire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les exemples qui mènent à un </a:t>
            </a:r>
            <a:r>
              <a:rPr lang="fr-FR" sz="1200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 Over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i.e. lorsque le score est reset à 0 l’exemple d’après. Évite que le modèle apprenne des coups perdants.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5813AC-8C17-4DF6-5EBB-8A3926074608}"/>
              </a:ext>
            </a:extLst>
          </p:cNvPr>
          <p:cNvSpPr txBox="1"/>
          <p:nvPr/>
        </p:nvSpPr>
        <p:spPr>
          <a:xfrm>
            <a:off x="2712066" y="5066757"/>
            <a:ext cx="6767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Taille du </a:t>
            </a:r>
            <a:r>
              <a:rPr lang="fr-FR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final: </a:t>
            </a:r>
            <a:r>
              <a:rPr lang="fr-F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~46k exemples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3091D5-38D6-ADAC-A88F-FDF2056FE965}"/>
              </a:ext>
            </a:extLst>
          </p:cNvPr>
          <p:cNvSpPr txBox="1"/>
          <p:nvPr/>
        </p:nvSpPr>
        <p:spPr>
          <a:xfrm>
            <a:off x="9394222" y="5666227"/>
            <a:ext cx="2381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Autres statistiques:</a:t>
            </a:r>
          </a:p>
          <a:p>
            <a:pPr marL="285750" indent="-285750">
              <a:buFontTx/>
              <a:buChar char="-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 moyen : 17.5 </a:t>
            </a:r>
          </a:p>
          <a:p>
            <a:pPr marL="285750" indent="-285750">
              <a:buFontTx/>
              <a:buChar char="-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moyen de coup par partie: 313 coups</a:t>
            </a:r>
          </a:p>
        </p:txBody>
      </p:sp>
    </p:spTree>
    <p:extLst>
      <p:ext uri="{BB962C8B-B14F-4D97-AF65-F5344CB8AC3E}">
        <p14:creationId xmlns:p14="http://schemas.microsoft.com/office/powerpoint/2010/main" val="974916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DE230-E1A9-62DF-9323-99C20D50A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DBF32A-F5FA-1A5B-F2CD-045E3B694D32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F1BFBE-1806-C7D1-EF6D-04DB2D76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711FA6-AC08-762C-468B-6D520FF52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ABE367-6BFB-1CE6-5C5E-9177035C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Modèle linéaire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269A87-5312-DE90-C059-E7F499188EA6}"/>
              </a:ext>
            </a:extLst>
          </p:cNvPr>
          <p:cNvSpPr txBox="1"/>
          <p:nvPr/>
        </p:nvSpPr>
        <p:spPr>
          <a:xfrm>
            <a:off x="1128673" y="1576336"/>
            <a:ext cx="362732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Avant de se lancer dans l’entraînement plusieurs questions:</a:t>
            </a:r>
          </a:p>
          <a:p>
            <a:endParaRPr lang="fr-F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 modèle choisir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données sont-elles </a:t>
            </a:r>
            <a:r>
              <a:rPr lang="fr-F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linéairement séparables 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150214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823AF-9CA7-0BBB-6C19-80083307F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001042-06B1-326A-6FA9-1E00BA6233FB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F1DC7-F7FF-E583-E9DF-6CDE7D117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D26339-D303-6BCF-D911-364C4B35F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CF7D547-430B-63E2-7848-8D6D164A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Modèle linéaire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CA3CB6-AD50-CDDF-CFE9-BA2AA842555E}"/>
              </a:ext>
            </a:extLst>
          </p:cNvPr>
          <p:cNvSpPr txBox="1"/>
          <p:nvPr/>
        </p:nvSpPr>
        <p:spPr>
          <a:xfrm>
            <a:off x="1128672" y="1576336"/>
            <a:ext cx="50722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 modèle choisir ?</a:t>
            </a:r>
          </a:p>
          <a:p>
            <a:endParaRPr lang="fr-F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Ici, 4 classes bien définie: haut, bas, gauche, droite.</a:t>
            </a:r>
          </a:p>
          <a:p>
            <a:endParaRPr lang="fr-F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problème de classification en utilisant 4 perceptrons</a:t>
            </a:r>
          </a:p>
          <a:p>
            <a:endParaRPr lang="fr-F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591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F1245-EB1B-430F-8740-B68923CC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6FC978-0ECE-41E7-4566-38300E3AE032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8C83A-963F-D2D9-443A-496BB011E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50F141-2987-E023-2E00-A7AA52F8A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10704A1-D0AF-CB22-A3B9-4CAAD6EA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Modèle linéaire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E8025-AE53-4810-96A1-6E80044EAEBE}"/>
              </a:ext>
            </a:extLst>
          </p:cNvPr>
          <p:cNvSpPr txBox="1"/>
          <p:nvPr/>
        </p:nvSpPr>
        <p:spPr>
          <a:xfrm>
            <a:off x="1128672" y="1576336"/>
            <a:ext cx="67678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données sont-elles </a:t>
            </a:r>
            <a:r>
              <a:rPr lang="fr-F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linéairement séparables</a:t>
            </a:r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  <a:p>
            <a:endParaRPr lang="fr-F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Intuition 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9F2BDB-3BC9-BCAA-F3C5-0AA35D3AFC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7" r="427"/>
          <a:stretch/>
        </p:blipFill>
        <p:spPr>
          <a:xfrm>
            <a:off x="3909097" y="2804785"/>
            <a:ext cx="2442674" cy="2461132"/>
          </a:xfrm>
          <a:prstGeom prst="roundRect">
            <a:avLst>
              <a:gd name="adj" fmla="val 3944"/>
            </a:avLst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437315-90FF-46D6-1C4C-C89AC86322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3" r="323"/>
          <a:stretch/>
        </p:blipFill>
        <p:spPr>
          <a:xfrm>
            <a:off x="6675203" y="2804785"/>
            <a:ext cx="2442674" cy="2461132"/>
          </a:xfrm>
          <a:prstGeom prst="roundRect">
            <a:avLst>
              <a:gd name="adj" fmla="val 3944"/>
            </a:avLst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D9D2AA-9489-B912-3F4F-1C81AAB93D23}"/>
              </a:ext>
            </a:extLst>
          </p:cNvPr>
          <p:cNvSpPr txBox="1"/>
          <p:nvPr/>
        </p:nvSpPr>
        <p:spPr>
          <a:xfrm>
            <a:off x="4823816" y="2277495"/>
            <a:ext cx="3339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Deux états très similaires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39F4B5-2A1F-6AAB-6AC6-8EBD131227B1}"/>
              </a:ext>
            </a:extLst>
          </p:cNvPr>
          <p:cNvSpPr txBox="1"/>
          <p:nvPr/>
        </p:nvSpPr>
        <p:spPr>
          <a:xfrm>
            <a:off x="2487355" y="3870514"/>
            <a:ext cx="1515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 n’est pas la bonne option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E6C304-EF36-E534-D944-76F1452DECCD}"/>
              </a:ext>
            </a:extLst>
          </p:cNvPr>
          <p:cNvSpPr txBox="1"/>
          <p:nvPr/>
        </p:nvSpPr>
        <p:spPr>
          <a:xfrm>
            <a:off x="9013549" y="3804518"/>
            <a:ext cx="1515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 est la bonne option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C606D8-7F27-1E3B-2E49-2DE051FF6E13}"/>
              </a:ext>
            </a:extLst>
          </p:cNvPr>
          <p:cNvSpPr txBox="1"/>
          <p:nvPr/>
        </p:nvSpPr>
        <p:spPr>
          <a:xfrm>
            <a:off x="3812526" y="5423875"/>
            <a:ext cx="52527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classer différemment =&gt; probablement difficile à classer pour un modèle linéaire</a:t>
            </a:r>
            <a:endParaRPr lang="fr-FR" sz="16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9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E2BC0-A062-BD7A-D15D-073377A7A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551EA2-647B-B3B7-CF8A-82235B840EAE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BDE97-7534-3A6A-7D08-C8694E711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32A233-E1A2-1623-EE16-129A30491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93C90FF-B6A8-2731-7B0C-4E5FFF7AD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Modèle linéaire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B71779-5C3F-BFD8-F6BD-3A7B570ABDEA}"/>
              </a:ext>
            </a:extLst>
          </p:cNvPr>
          <p:cNvSpPr txBox="1"/>
          <p:nvPr/>
        </p:nvSpPr>
        <p:spPr>
          <a:xfrm>
            <a:off x="2712066" y="1370825"/>
            <a:ext cx="67678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Entraînement de 4 modèles linéaires, un pour chaque coup possible</a:t>
            </a:r>
          </a:p>
        </p:txBody>
      </p:sp>
      <p:pic>
        <p:nvPicPr>
          <p:cNvPr id="13" name="Picture 12" descr="A graph showing a graph of a training&#10;&#10;AI-generated content may be incorrect.">
            <a:extLst>
              <a:ext uri="{FF2B5EF4-FFF2-40B4-BE49-F238E27FC236}">
                <a16:creationId xmlns:a16="http://schemas.microsoft.com/office/drawing/2014/main" id="{1216CDCF-5129-1A9D-0F56-880238F01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189" y="2203369"/>
            <a:ext cx="5701622" cy="36865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16AACBA-1565-06E7-E510-2A022B648248}"/>
              </a:ext>
            </a:extLst>
          </p:cNvPr>
          <p:cNvSpPr txBox="1"/>
          <p:nvPr/>
        </p:nvSpPr>
        <p:spPr>
          <a:xfrm>
            <a:off x="3723861" y="6014537"/>
            <a:ext cx="4744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Qu’est ce qu’il se passe 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19CA11-AF80-25CA-B01B-1E3695301032}"/>
              </a:ext>
            </a:extLst>
          </p:cNvPr>
          <p:cNvSpPr txBox="1"/>
          <p:nvPr/>
        </p:nvSpPr>
        <p:spPr>
          <a:xfrm>
            <a:off x="9049757" y="3429000"/>
            <a:ext cx="18892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100 000</a:t>
            </a:r>
          </a:p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rate: 0.001</a:t>
            </a:r>
          </a:p>
          <a:p>
            <a:r>
              <a:rPr lang="fr-F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Nbs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exemples: ~26k</a:t>
            </a:r>
          </a:p>
        </p:txBody>
      </p:sp>
    </p:spTree>
    <p:extLst>
      <p:ext uri="{BB962C8B-B14F-4D97-AF65-F5344CB8AC3E}">
        <p14:creationId xmlns:p14="http://schemas.microsoft.com/office/powerpoint/2010/main" val="3964280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C82B3-1387-8EF5-2491-04A19163A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6E4FBD-8C39-404B-DFC2-7BAB81228ED8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BAAC9-37FA-1BC2-2A93-BBB53CCEF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D85EB0-7D9E-B15C-7001-AE0963851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E26EE1C-43E6-E997-77B5-9307AAAB7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Modèle linéaire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3" name="Picture 12" descr="A graph showing a graph of a training&#10;&#10;AI-generated content may be incorrect.">
            <a:extLst>
              <a:ext uri="{FF2B5EF4-FFF2-40B4-BE49-F238E27FC236}">
                <a16:creationId xmlns:a16="http://schemas.microsoft.com/office/drawing/2014/main" id="{AD4BD152-09B0-0FB9-3D06-F8809C8D5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058" y="2506151"/>
            <a:ext cx="3983965" cy="25759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562BEC-60BB-F3C8-D676-7FA70C09E121}"/>
              </a:ext>
            </a:extLst>
          </p:cNvPr>
          <p:cNvSpPr txBox="1"/>
          <p:nvPr/>
        </p:nvSpPr>
        <p:spPr>
          <a:xfrm>
            <a:off x="1217901" y="1920932"/>
            <a:ext cx="4744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Qu’est ce qu’il se passe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ECCF72-8DED-BD6B-612D-9AC06FEA60E2}"/>
              </a:ext>
            </a:extLst>
          </p:cNvPr>
          <p:cNvSpPr txBox="1"/>
          <p:nvPr/>
        </p:nvSpPr>
        <p:spPr>
          <a:xfrm>
            <a:off x="6144445" y="2506151"/>
            <a:ext cx="47442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modèles </a:t>
            </a:r>
            <a:r>
              <a:rPr lang="fr-F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divergent</a:t>
            </a:r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(même en testant différente learning rate).</a:t>
            </a:r>
          </a:p>
          <a:p>
            <a:endParaRPr lang="fr-F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Cela montre que les données ne sont probablement </a:t>
            </a:r>
            <a:r>
              <a:rPr lang="fr-F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 linéairement séparables</a:t>
            </a:r>
          </a:p>
        </p:txBody>
      </p:sp>
    </p:spTree>
    <p:extLst>
      <p:ext uri="{BB962C8B-B14F-4D97-AF65-F5344CB8AC3E}">
        <p14:creationId xmlns:p14="http://schemas.microsoft.com/office/powerpoint/2010/main" val="2218438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3252E-9540-C206-F950-67A528C4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2AD414-33D0-87FA-410A-E169734E903B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61992D-F86F-FAA4-BCFD-74AF097F8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63C074-9DB6-A3D8-E9EB-463C9F263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5BF757C-D01E-EB5F-950C-B3244B98C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396" y="3076038"/>
            <a:ext cx="2777208" cy="705923"/>
          </a:xfrm>
        </p:spPr>
        <p:txBody>
          <a:bodyPr anchor="ctr">
            <a:normAutofit/>
          </a:bodyPr>
          <a:lstStyle/>
          <a:p>
            <a:pPr algn="ctr"/>
            <a:r>
              <a:rPr lang="fr-FR" sz="3600" dirty="0">
                <a:latin typeface="Arial Black" panose="020B0A04020102020204" pitchFamily="34" charset="0"/>
              </a:rPr>
              <a:t>Solution ?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770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C4B0C-F650-D1BF-C2B7-3D5A0D2BB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EE4B71-F370-1DC4-5C1D-6E7D88EBB0CA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D2ACA-1945-88A3-C2F5-EC18A8986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C20A80-8A5B-98F2-4C49-9B34D9C03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7DE12B3-DCB5-80D2-7A48-147419C4D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184" y="2875611"/>
            <a:ext cx="6725632" cy="1106777"/>
          </a:xfrm>
        </p:spPr>
        <p:txBody>
          <a:bodyPr anchor="ctr">
            <a:normAutofit/>
          </a:bodyPr>
          <a:lstStyle/>
          <a:p>
            <a:pPr algn="ctr"/>
            <a:r>
              <a:rPr lang="fr-FR" sz="3600" dirty="0">
                <a:latin typeface="Arial Black" panose="020B0A04020102020204" pitchFamily="34" charset="0"/>
              </a:rPr>
              <a:t>Perceptron Multicouche</a:t>
            </a:r>
            <a:br>
              <a:rPr lang="fr-FR" sz="3600" dirty="0">
                <a:latin typeface="Arial Black" panose="020B0A04020102020204" pitchFamily="34" charset="0"/>
              </a:rPr>
            </a:br>
            <a:r>
              <a:rPr lang="fr-FR" sz="3600" dirty="0">
                <a:latin typeface="Arial Black" panose="020B0A04020102020204" pitchFamily="34" charset="0"/>
              </a:rPr>
              <a:t>(ou MLP)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929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5DC8F-C464-09AA-1A68-BD82E043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032C39-89DE-BF26-2AF1-6D8D64277AFE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CBB95-796A-D000-887D-86FFB7740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D8E39B-AF1C-9946-FE6D-964D84EAD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BF64D4B-81F7-074E-A591-3D4614921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Perceptron Multicouche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D83103-1466-E3AD-374E-09DEE0F1509E}"/>
              </a:ext>
            </a:extLst>
          </p:cNvPr>
          <p:cNvSpPr txBox="1"/>
          <p:nvPr/>
        </p:nvSpPr>
        <p:spPr>
          <a:xfrm>
            <a:off x="1128673" y="1576336"/>
            <a:ext cx="36273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Avant de se lancer dans l’entraînement encore des questions :</a:t>
            </a:r>
          </a:p>
          <a:p>
            <a:endParaRPr lang="fr-F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Quelle profondeur de modèle choisir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Quelle learning rate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 nombre d’</a:t>
            </a:r>
            <a:r>
              <a:rPr lang="fr-F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4160773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9281B-4769-E58F-E98C-56E11A174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AD4217-A0FA-2C4E-E8B5-D42A79E127E1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1C55D1-E909-8633-1720-2E212837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34892A-E9B0-1261-95B8-AB8F20201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98C336D-217A-C36B-DBA5-3B1DF543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Perceptron Multicouche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93BE30-4961-5CE7-119B-A6EFB63EEE46}"/>
              </a:ext>
            </a:extLst>
          </p:cNvPr>
          <p:cNvSpPr txBox="1"/>
          <p:nvPr/>
        </p:nvSpPr>
        <p:spPr>
          <a:xfrm>
            <a:off x="1360403" y="1576336"/>
            <a:ext cx="3921723" cy="1123712"/>
          </a:xfrm>
          <a:prstGeom prst="round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Profondeur: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[520, 512, 256, 128, 64, 32, 16, 8, 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100 000</a:t>
            </a:r>
          </a:p>
        </p:txBody>
      </p:sp>
      <p:pic>
        <p:nvPicPr>
          <p:cNvPr id="8" name="Picture 7" descr="A graph of training error&#10;&#10;AI-generated content may be incorrect.">
            <a:extLst>
              <a:ext uri="{FF2B5EF4-FFF2-40B4-BE49-F238E27FC236}">
                <a16:creationId xmlns:a16="http://schemas.microsoft.com/office/drawing/2014/main" id="{693E9FDE-0E26-A9E6-0375-BEF763F87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926" y="1576336"/>
            <a:ext cx="4284575" cy="34382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B0671B-C6E4-C37B-69CE-9FBFA5916BFD}"/>
              </a:ext>
            </a:extLst>
          </p:cNvPr>
          <p:cNvSpPr txBox="1"/>
          <p:nvPr/>
        </p:nvSpPr>
        <p:spPr>
          <a:xfrm>
            <a:off x="1360403" y="3295455"/>
            <a:ext cx="419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L’entraînement semble avoir fonctionné.</a:t>
            </a:r>
          </a:p>
          <a:p>
            <a:pPr marL="342900" indent="-342900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 de sous ou sur apprentissage</a:t>
            </a:r>
          </a:p>
          <a:p>
            <a:pPr marL="342900" indent="-342900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L’erreur descend plutôt bas (~0.15)</a:t>
            </a:r>
          </a:p>
        </p:txBody>
      </p:sp>
    </p:spTree>
    <p:extLst>
      <p:ext uri="{BB962C8B-B14F-4D97-AF65-F5344CB8AC3E}">
        <p14:creationId xmlns:p14="http://schemas.microsoft.com/office/powerpoint/2010/main" val="2476508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34C63-C12F-6889-EBD5-D66A5351A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983DCD-AB61-0BC5-F85D-0E1CB5FCC9EB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9C39F-C16F-C646-D811-805F1C352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C47AC9-74DA-4821-77E3-E0E771A28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4947CE4-3F6B-399F-4C91-BADC13C6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Perceptron Multicouche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88359C-E4CF-2376-32FF-23BDD2D9FC09}"/>
              </a:ext>
            </a:extLst>
          </p:cNvPr>
          <p:cNvSpPr txBox="1"/>
          <p:nvPr/>
        </p:nvSpPr>
        <p:spPr>
          <a:xfrm>
            <a:off x="1360403" y="1576336"/>
            <a:ext cx="3921723" cy="1123712"/>
          </a:xfrm>
          <a:prstGeom prst="round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Profondeur: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[520, 512, 256, 128, 64, 32, 16, 8, 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100 000</a:t>
            </a:r>
          </a:p>
        </p:txBody>
      </p:sp>
      <p:pic>
        <p:nvPicPr>
          <p:cNvPr id="8" name="Picture 7" descr="A graph of training error&#10;&#10;AI-generated content may be incorrect.">
            <a:extLst>
              <a:ext uri="{FF2B5EF4-FFF2-40B4-BE49-F238E27FC236}">
                <a16:creationId xmlns:a16="http://schemas.microsoft.com/office/drawing/2014/main" id="{730D19ED-F4B5-C581-2780-C31C320BB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926" y="1576336"/>
            <a:ext cx="4284575" cy="34382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E1AA7D-5683-FF2F-11CB-BA7599E34615}"/>
              </a:ext>
            </a:extLst>
          </p:cNvPr>
          <p:cNvSpPr txBox="1"/>
          <p:nvPr/>
        </p:nvSpPr>
        <p:spPr>
          <a:xfrm>
            <a:off x="1360403" y="2821128"/>
            <a:ext cx="41967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Problème</a:t>
            </a:r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fr-F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Quand on observe les résultats sur quelques exemples aléatoires on se rend compte que quelque chose cloche.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557BD6-6DAB-15C8-F1AF-508098562BA3}"/>
              </a:ext>
            </a:extLst>
          </p:cNvPr>
          <p:cNvSpPr txBox="1"/>
          <p:nvPr/>
        </p:nvSpPr>
        <p:spPr>
          <a:xfrm>
            <a:off x="1360403" y="3954196"/>
            <a:ext cx="4196704" cy="24006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Sample 0: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True Output: [0. </a:t>
            </a:r>
            <a:r>
              <a:rPr lang="en-US" sz="900" b="1" dirty="0">
                <a:solidFill>
                  <a:srgbClr val="FF0000"/>
                </a:solidFill>
              </a:rPr>
              <a:t>1.</a:t>
            </a:r>
            <a:r>
              <a:rPr lang="en-US" sz="900" dirty="0">
                <a:solidFill>
                  <a:schemeClr val="bg1"/>
                </a:solidFill>
              </a:rPr>
              <a:t> 0. 0.]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Predicted Output: [0.27663101 0.27914764 0.22107889 </a:t>
            </a:r>
            <a:r>
              <a:rPr lang="en-US" sz="900" b="1" dirty="0">
                <a:solidFill>
                  <a:srgbClr val="FF0000"/>
                </a:solidFill>
              </a:rPr>
              <a:t>0.2965413</a:t>
            </a:r>
            <a:r>
              <a:rPr lang="en-US" sz="900" dirty="0">
                <a:solidFill>
                  <a:schemeClr val="bg1"/>
                </a:solidFill>
              </a:rPr>
              <a:t> ]</a:t>
            </a:r>
          </a:p>
          <a:p>
            <a:r>
              <a:rPr lang="en-US" sz="900" dirty="0">
                <a:solidFill>
                  <a:schemeClr val="bg1"/>
                </a:solidFill>
              </a:rPr>
              <a:t>Sample 1: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True Output: [0. 0. </a:t>
            </a:r>
            <a:r>
              <a:rPr lang="en-US" sz="900" dirty="0">
                <a:solidFill>
                  <a:srgbClr val="FF0000"/>
                </a:solidFill>
              </a:rPr>
              <a:t>1.</a:t>
            </a:r>
            <a:r>
              <a:rPr lang="en-US" sz="900" dirty="0">
                <a:solidFill>
                  <a:schemeClr val="bg1"/>
                </a:solidFill>
              </a:rPr>
              <a:t> 0.]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Predicted Output: [0.27552473 0.21855082 0.23057381 </a:t>
            </a:r>
            <a:r>
              <a:rPr lang="en-US" sz="900" b="1" dirty="0">
                <a:solidFill>
                  <a:srgbClr val="FF0000"/>
                </a:solidFill>
              </a:rPr>
              <a:t>0.28908903</a:t>
            </a:r>
            <a:r>
              <a:rPr lang="en-US" sz="900" dirty="0">
                <a:solidFill>
                  <a:schemeClr val="bg1"/>
                </a:solidFill>
              </a:rPr>
              <a:t>]</a:t>
            </a:r>
          </a:p>
          <a:p>
            <a:r>
              <a:rPr lang="en-US" sz="900" dirty="0">
                <a:solidFill>
                  <a:schemeClr val="bg1"/>
                </a:solidFill>
              </a:rPr>
              <a:t>Sample 2: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True Output: [0. </a:t>
            </a:r>
            <a:r>
              <a:rPr lang="en-US" sz="900" b="1" dirty="0">
                <a:solidFill>
                  <a:srgbClr val="FF0000"/>
                </a:solidFill>
              </a:rPr>
              <a:t>1.</a:t>
            </a:r>
            <a:r>
              <a:rPr lang="en-US" sz="900" dirty="0">
                <a:solidFill>
                  <a:schemeClr val="bg1"/>
                </a:solidFill>
              </a:rPr>
              <a:t> 0. 0.]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Predicted Output: [</a:t>
            </a:r>
            <a:r>
              <a:rPr lang="en-US" sz="900" b="1" dirty="0">
                <a:solidFill>
                  <a:srgbClr val="FF0000"/>
                </a:solidFill>
              </a:rPr>
              <a:t>0.30347362</a:t>
            </a:r>
            <a:r>
              <a:rPr lang="en-US" sz="900" dirty="0">
                <a:solidFill>
                  <a:schemeClr val="bg1"/>
                </a:solidFill>
              </a:rPr>
              <a:t> 0.21079763 0.22541733 0.27019389]</a:t>
            </a:r>
          </a:p>
          <a:p>
            <a:r>
              <a:rPr lang="en-US" sz="900" dirty="0">
                <a:solidFill>
                  <a:schemeClr val="bg1"/>
                </a:solidFill>
              </a:rPr>
              <a:t>Sample 3: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True Output: [0. </a:t>
            </a:r>
            <a:r>
              <a:rPr lang="en-US" sz="900" b="1" dirty="0">
                <a:solidFill>
                  <a:srgbClr val="FF0000"/>
                </a:solidFill>
              </a:rPr>
              <a:t>1.</a:t>
            </a:r>
            <a:r>
              <a:rPr lang="en-US" sz="900" dirty="0">
                <a:solidFill>
                  <a:schemeClr val="bg1"/>
                </a:solidFill>
              </a:rPr>
              <a:t> 0. 0.]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Predicted Output: [</a:t>
            </a:r>
            <a:r>
              <a:rPr lang="en-US" sz="900" b="1" dirty="0">
                <a:solidFill>
                  <a:srgbClr val="FF0000"/>
                </a:solidFill>
              </a:rPr>
              <a:t>0.3052321</a:t>
            </a:r>
            <a:r>
              <a:rPr lang="en-US" sz="900" dirty="0">
                <a:solidFill>
                  <a:schemeClr val="bg1"/>
                </a:solidFill>
              </a:rPr>
              <a:t>  0.22052563 0.20355384 0.29739148]</a:t>
            </a:r>
          </a:p>
          <a:p>
            <a:r>
              <a:rPr lang="en-US" sz="900" dirty="0">
                <a:solidFill>
                  <a:schemeClr val="bg1"/>
                </a:solidFill>
              </a:rPr>
              <a:t>Sample 4: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True Output: [</a:t>
            </a:r>
            <a:r>
              <a:rPr lang="en-US" sz="900" b="1" dirty="0">
                <a:solidFill>
                  <a:srgbClr val="FF0000"/>
                </a:solidFill>
              </a:rPr>
              <a:t>1.</a:t>
            </a:r>
            <a:r>
              <a:rPr lang="en-US" sz="900" dirty="0">
                <a:solidFill>
                  <a:schemeClr val="bg1"/>
                </a:solidFill>
              </a:rPr>
              <a:t> 0. 0. 0.]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Predicted Output: [</a:t>
            </a:r>
            <a:r>
              <a:rPr lang="en-US" sz="900" b="1" dirty="0">
                <a:solidFill>
                  <a:srgbClr val="FF0000"/>
                </a:solidFill>
              </a:rPr>
              <a:t>0.34376495</a:t>
            </a:r>
            <a:r>
              <a:rPr lang="en-US" sz="900" dirty="0">
                <a:solidFill>
                  <a:schemeClr val="bg1"/>
                </a:solidFill>
              </a:rPr>
              <a:t> 0.20172692 0.17097026 0.27028241]</a:t>
            </a:r>
          </a:p>
        </p:txBody>
      </p:sp>
    </p:spTree>
    <p:extLst>
      <p:ext uri="{BB962C8B-B14F-4D97-AF65-F5344CB8AC3E}">
        <p14:creationId xmlns:p14="http://schemas.microsoft.com/office/powerpoint/2010/main" val="683528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5C3AC-B2C4-C8FD-E7E3-C099AC943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22411B-4757-7E5F-604A-0B4EB36F5184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BEC4F-8BD7-713E-19B6-79189F854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977C80-37A8-61B2-C72A-E87DCBA2C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76D44A-C95E-28B8-DB03-FB205BE13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Perceptron Multicouche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E22B15-6B7C-D477-45EF-B26E7B7A7ECF}"/>
              </a:ext>
            </a:extLst>
          </p:cNvPr>
          <p:cNvSpPr txBox="1"/>
          <p:nvPr/>
        </p:nvSpPr>
        <p:spPr>
          <a:xfrm>
            <a:off x="1360403" y="1576336"/>
            <a:ext cx="3921723" cy="1123712"/>
          </a:xfrm>
          <a:prstGeom prst="round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Profondeur: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[520, 512, 256, 128, 64, 32, 16, 8, 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447BD-AA91-33AA-C711-BBD14BC444AE}"/>
              </a:ext>
            </a:extLst>
          </p:cNvPr>
          <p:cNvSpPr txBox="1"/>
          <p:nvPr/>
        </p:nvSpPr>
        <p:spPr>
          <a:xfrm>
            <a:off x="1222912" y="3154220"/>
            <a:ext cx="419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Vanishing</a:t>
            </a:r>
            <a:r>
              <a:rPr lang="fr-F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gradient</a:t>
            </a:r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sortie proche de la moyenne à 0,25. Première couche jamais mise à jour.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33A2CD-8DE2-D304-8E4C-C0BBF5B8FBC4}"/>
              </a:ext>
            </a:extLst>
          </p:cNvPr>
          <p:cNvSpPr txBox="1"/>
          <p:nvPr/>
        </p:nvSpPr>
        <p:spPr>
          <a:xfrm>
            <a:off x="6307852" y="2228671"/>
            <a:ext cx="4196704" cy="24006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Sample 0: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True Output: [0. </a:t>
            </a:r>
            <a:r>
              <a:rPr lang="en-US" sz="900" b="1" dirty="0">
                <a:solidFill>
                  <a:srgbClr val="FF0000"/>
                </a:solidFill>
              </a:rPr>
              <a:t>1.</a:t>
            </a:r>
            <a:r>
              <a:rPr lang="en-US" sz="900" dirty="0">
                <a:solidFill>
                  <a:schemeClr val="bg1"/>
                </a:solidFill>
              </a:rPr>
              <a:t> 0. 0.]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Predicted Output: [0.27663101 0.27914764 0.22107889 </a:t>
            </a:r>
            <a:r>
              <a:rPr lang="en-US" sz="900" b="1" dirty="0">
                <a:solidFill>
                  <a:srgbClr val="FF0000"/>
                </a:solidFill>
              </a:rPr>
              <a:t>0.2965413</a:t>
            </a:r>
            <a:r>
              <a:rPr lang="en-US" sz="900" dirty="0">
                <a:solidFill>
                  <a:schemeClr val="bg1"/>
                </a:solidFill>
              </a:rPr>
              <a:t> ]</a:t>
            </a:r>
          </a:p>
          <a:p>
            <a:r>
              <a:rPr lang="en-US" sz="900" dirty="0">
                <a:solidFill>
                  <a:schemeClr val="bg1"/>
                </a:solidFill>
              </a:rPr>
              <a:t>Sample 1: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True Output: [0. 0. </a:t>
            </a:r>
            <a:r>
              <a:rPr lang="en-US" sz="900" dirty="0">
                <a:solidFill>
                  <a:srgbClr val="FF0000"/>
                </a:solidFill>
              </a:rPr>
              <a:t>1.</a:t>
            </a:r>
            <a:r>
              <a:rPr lang="en-US" sz="900" dirty="0">
                <a:solidFill>
                  <a:schemeClr val="bg1"/>
                </a:solidFill>
              </a:rPr>
              <a:t> 0.]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Predicted Output: [0.27552473 0.21855082 0.23057381 </a:t>
            </a:r>
            <a:r>
              <a:rPr lang="en-US" sz="900" b="1" dirty="0">
                <a:solidFill>
                  <a:srgbClr val="FF0000"/>
                </a:solidFill>
              </a:rPr>
              <a:t>0.28908903</a:t>
            </a:r>
            <a:r>
              <a:rPr lang="en-US" sz="900" dirty="0">
                <a:solidFill>
                  <a:schemeClr val="bg1"/>
                </a:solidFill>
              </a:rPr>
              <a:t>]</a:t>
            </a:r>
          </a:p>
          <a:p>
            <a:r>
              <a:rPr lang="en-US" sz="900" dirty="0">
                <a:solidFill>
                  <a:schemeClr val="bg1"/>
                </a:solidFill>
              </a:rPr>
              <a:t>Sample 2: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True Output: [0. </a:t>
            </a:r>
            <a:r>
              <a:rPr lang="en-US" sz="900" b="1" dirty="0">
                <a:solidFill>
                  <a:srgbClr val="FF0000"/>
                </a:solidFill>
              </a:rPr>
              <a:t>1.</a:t>
            </a:r>
            <a:r>
              <a:rPr lang="en-US" sz="900" dirty="0">
                <a:solidFill>
                  <a:schemeClr val="bg1"/>
                </a:solidFill>
              </a:rPr>
              <a:t> 0. 0.]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Predicted Output: [</a:t>
            </a:r>
            <a:r>
              <a:rPr lang="en-US" sz="900" b="1" dirty="0">
                <a:solidFill>
                  <a:srgbClr val="FF0000"/>
                </a:solidFill>
              </a:rPr>
              <a:t>0.30347362</a:t>
            </a:r>
            <a:r>
              <a:rPr lang="en-US" sz="900" dirty="0">
                <a:solidFill>
                  <a:schemeClr val="bg1"/>
                </a:solidFill>
              </a:rPr>
              <a:t> 0.21079763 0.22541733 0.27019389]</a:t>
            </a:r>
          </a:p>
          <a:p>
            <a:r>
              <a:rPr lang="en-US" sz="900" dirty="0">
                <a:solidFill>
                  <a:schemeClr val="bg1"/>
                </a:solidFill>
              </a:rPr>
              <a:t>Sample 3: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True Output: [0. </a:t>
            </a:r>
            <a:r>
              <a:rPr lang="en-US" sz="900" b="1" dirty="0">
                <a:solidFill>
                  <a:srgbClr val="FF0000"/>
                </a:solidFill>
              </a:rPr>
              <a:t>1.</a:t>
            </a:r>
            <a:r>
              <a:rPr lang="en-US" sz="900" dirty="0">
                <a:solidFill>
                  <a:schemeClr val="bg1"/>
                </a:solidFill>
              </a:rPr>
              <a:t> 0. 0.]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Predicted Output: [</a:t>
            </a:r>
            <a:r>
              <a:rPr lang="en-US" sz="900" b="1" dirty="0">
                <a:solidFill>
                  <a:srgbClr val="FF0000"/>
                </a:solidFill>
              </a:rPr>
              <a:t>0.3052321</a:t>
            </a:r>
            <a:r>
              <a:rPr lang="en-US" sz="900" dirty="0">
                <a:solidFill>
                  <a:schemeClr val="bg1"/>
                </a:solidFill>
              </a:rPr>
              <a:t>  0.22052563 0.20355384 0.29739148]</a:t>
            </a:r>
          </a:p>
          <a:p>
            <a:r>
              <a:rPr lang="en-US" sz="900" dirty="0">
                <a:solidFill>
                  <a:schemeClr val="bg1"/>
                </a:solidFill>
              </a:rPr>
              <a:t>Sample 4: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True Output: [</a:t>
            </a:r>
            <a:r>
              <a:rPr lang="en-US" sz="900" b="1" dirty="0">
                <a:solidFill>
                  <a:srgbClr val="FF0000"/>
                </a:solidFill>
              </a:rPr>
              <a:t>1.</a:t>
            </a:r>
            <a:r>
              <a:rPr lang="en-US" sz="900" dirty="0">
                <a:solidFill>
                  <a:schemeClr val="bg1"/>
                </a:solidFill>
              </a:rPr>
              <a:t> 0. 0. 0.]</a:t>
            </a:r>
          </a:p>
          <a:p>
            <a:r>
              <a:rPr lang="en-US" sz="900" dirty="0">
                <a:solidFill>
                  <a:schemeClr val="bg1"/>
                </a:solidFill>
              </a:rPr>
              <a:t>  Predicted Output: [</a:t>
            </a:r>
            <a:r>
              <a:rPr lang="en-US" sz="900" b="1" dirty="0">
                <a:solidFill>
                  <a:srgbClr val="FF0000"/>
                </a:solidFill>
              </a:rPr>
              <a:t>0.34376495</a:t>
            </a:r>
            <a:r>
              <a:rPr lang="en-US" sz="900" dirty="0">
                <a:solidFill>
                  <a:schemeClr val="bg1"/>
                </a:solidFill>
              </a:rPr>
              <a:t> 0.20172692 0.17097026 0.27028241]</a:t>
            </a:r>
          </a:p>
        </p:txBody>
      </p:sp>
    </p:spTree>
    <p:extLst>
      <p:ext uri="{BB962C8B-B14F-4D97-AF65-F5344CB8AC3E}">
        <p14:creationId xmlns:p14="http://schemas.microsoft.com/office/powerpoint/2010/main" val="558775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B3828-46A5-E0CE-A44D-E7BFD0A75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9BBFE2-8E17-7B2A-6F07-6000EA7A0B02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737C83-1547-6A57-E197-3E0FD19DC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DE5D61-3F72-E4AC-D353-A47218E8C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E01927E-B423-9B1D-CE25-2C6056C8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Perceptron Multicouche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9C50CC-2A7A-EEE9-9D54-7C784FA8D61E}"/>
              </a:ext>
            </a:extLst>
          </p:cNvPr>
          <p:cNvSpPr txBox="1"/>
          <p:nvPr/>
        </p:nvSpPr>
        <p:spPr>
          <a:xfrm>
            <a:off x="1128672" y="1576336"/>
            <a:ext cx="4575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Réduisons donc la profondeur et augmentons le nombre d’</a:t>
            </a:r>
            <a:r>
              <a:rPr lang="fr-F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33BB30-AEC3-99FD-2826-11794B968DE5}"/>
              </a:ext>
            </a:extLst>
          </p:cNvPr>
          <p:cNvSpPr txBox="1"/>
          <p:nvPr/>
        </p:nvSpPr>
        <p:spPr>
          <a:xfrm>
            <a:off x="1128672" y="2212033"/>
            <a:ext cx="3921723" cy="1123712"/>
          </a:xfrm>
          <a:prstGeom prst="round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Profondeur: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[520, 128, 64, 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rate: 0.001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1 000 000</a:t>
            </a:r>
          </a:p>
        </p:txBody>
      </p:sp>
    </p:spTree>
    <p:extLst>
      <p:ext uri="{BB962C8B-B14F-4D97-AF65-F5344CB8AC3E}">
        <p14:creationId xmlns:p14="http://schemas.microsoft.com/office/powerpoint/2010/main" val="3610534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EAC8D-24EB-B3D0-C0C7-ECA34593F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A4DCB0-C39B-E2AB-5848-BAF7DC469641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DBAD8-C04D-5629-5455-5BCC1A391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C0E1B5-8C69-494F-25F5-AFE5977DB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CC756F3-07CE-1207-1017-CFA3289FD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Perceptron Multicouche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C960E6-8EE0-0180-43AE-FBDABA1535FF}"/>
              </a:ext>
            </a:extLst>
          </p:cNvPr>
          <p:cNvSpPr txBox="1"/>
          <p:nvPr/>
        </p:nvSpPr>
        <p:spPr>
          <a:xfrm>
            <a:off x="1128672" y="1576336"/>
            <a:ext cx="4575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Réduisons donc la profondeur et augmentons le nombre d’</a:t>
            </a:r>
            <a:r>
              <a:rPr lang="fr-F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0FAA9C-6608-37ED-C1B0-6F0B7A4F1DF0}"/>
              </a:ext>
            </a:extLst>
          </p:cNvPr>
          <p:cNvSpPr txBox="1"/>
          <p:nvPr/>
        </p:nvSpPr>
        <p:spPr>
          <a:xfrm>
            <a:off x="1128672" y="2212033"/>
            <a:ext cx="3921723" cy="1123712"/>
          </a:xfrm>
          <a:prstGeom prst="round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Profondeur: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[520, 128, 64, 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rate: 0.001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1 000 000</a:t>
            </a:r>
          </a:p>
        </p:txBody>
      </p:sp>
      <p:pic>
        <p:nvPicPr>
          <p:cNvPr id="8" name="Picture 7" descr="A graph of training error&#10;&#10;AI-generated content may be incorrect.">
            <a:extLst>
              <a:ext uri="{FF2B5EF4-FFF2-40B4-BE49-F238E27FC236}">
                <a16:creationId xmlns:a16="http://schemas.microsoft.com/office/drawing/2014/main" id="{66E83D5B-788D-C4D3-C782-D4459E034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403" y="1837946"/>
            <a:ext cx="5184658" cy="4160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14815F-A303-E9B6-5F36-A31883F25CA9}"/>
              </a:ext>
            </a:extLst>
          </p:cNvPr>
          <p:cNvSpPr txBox="1"/>
          <p:nvPr/>
        </p:nvSpPr>
        <p:spPr>
          <a:xfrm>
            <a:off x="1128672" y="3987913"/>
            <a:ext cx="419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 bien meilleur !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Erreur passe sous la barre des 0.1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Léger sur apprentissage</a:t>
            </a:r>
          </a:p>
        </p:txBody>
      </p:sp>
    </p:spTree>
    <p:extLst>
      <p:ext uri="{BB962C8B-B14F-4D97-AF65-F5344CB8AC3E}">
        <p14:creationId xmlns:p14="http://schemas.microsoft.com/office/powerpoint/2010/main" val="4288590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C8D7A-9575-E297-4B8F-906610146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EAAB12-5464-9B2A-F44B-51DDD47FB784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76C55-511F-5769-64A2-F700FA90A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F6F481-21C3-F57A-6278-246B9E596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31BFFBA-0D90-DFEC-4A04-0BF290459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Perceptron Multicouche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588D81-6053-B4C7-2FCC-7E02354F0CA8}"/>
              </a:ext>
            </a:extLst>
          </p:cNvPr>
          <p:cNvSpPr txBox="1"/>
          <p:nvPr/>
        </p:nvSpPr>
        <p:spPr>
          <a:xfrm>
            <a:off x="1128672" y="1576336"/>
            <a:ext cx="4575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Augmentons la learning rate pour un apprentissage peut-être plus rapide: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0A913B-485F-F2A3-4936-0924274138EB}"/>
              </a:ext>
            </a:extLst>
          </p:cNvPr>
          <p:cNvSpPr txBox="1"/>
          <p:nvPr/>
        </p:nvSpPr>
        <p:spPr>
          <a:xfrm>
            <a:off x="1128672" y="2212033"/>
            <a:ext cx="3921723" cy="1123712"/>
          </a:xfrm>
          <a:prstGeom prst="round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Profondeur: [520, 128, 64, 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1 000 000</a:t>
            </a:r>
          </a:p>
        </p:txBody>
      </p:sp>
    </p:spTree>
    <p:extLst>
      <p:ext uri="{BB962C8B-B14F-4D97-AF65-F5344CB8AC3E}">
        <p14:creationId xmlns:p14="http://schemas.microsoft.com/office/powerpoint/2010/main" val="3406300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D902F-8788-29D0-E246-66F484F27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B8481C-F142-59A3-0AE3-91FDD5DC0039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39B143-5955-BF54-6F50-EE28DB3B2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10D4B-B89C-C025-C0FD-136701986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E33B6E6-68CF-A7BA-FC0A-C0EEFD4B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Perceptron Multicouche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3388D3-083A-91AD-E303-EB5491EC1C42}"/>
              </a:ext>
            </a:extLst>
          </p:cNvPr>
          <p:cNvSpPr txBox="1"/>
          <p:nvPr/>
        </p:nvSpPr>
        <p:spPr>
          <a:xfrm>
            <a:off x="1128672" y="1576336"/>
            <a:ext cx="4575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Augmentons la learning rate pour un apprentissage peut-être plus rapide: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9D11FD-09DB-C0AA-D1AF-8A4A16079F21}"/>
              </a:ext>
            </a:extLst>
          </p:cNvPr>
          <p:cNvSpPr txBox="1"/>
          <p:nvPr/>
        </p:nvSpPr>
        <p:spPr>
          <a:xfrm>
            <a:off x="1128672" y="2212033"/>
            <a:ext cx="3921723" cy="1123712"/>
          </a:xfrm>
          <a:prstGeom prst="round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Profondeur: [520, 128, 64, 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1 000 000</a:t>
            </a:r>
          </a:p>
        </p:txBody>
      </p:sp>
      <p:pic>
        <p:nvPicPr>
          <p:cNvPr id="8" name="Picture 7" descr="A graph of a training error&#10;&#10;AI-generated content may be incorrect.">
            <a:extLst>
              <a:ext uri="{FF2B5EF4-FFF2-40B4-BE49-F238E27FC236}">
                <a16:creationId xmlns:a16="http://schemas.microsoft.com/office/drawing/2014/main" id="{52DEA6F8-AC1D-48BF-1C03-5240C55F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374" y="1639406"/>
            <a:ext cx="5266954" cy="4160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EF3675-9346-293B-80D0-5110A42973A9}"/>
              </a:ext>
            </a:extLst>
          </p:cNvPr>
          <p:cNvSpPr txBox="1"/>
          <p:nvPr/>
        </p:nvSpPr>
        <p:spPr>
          <a:xfrm>
            <a:off x="1128672" y="3987913"/>
            <a:ext cx="4196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modèle </a:t>
            </a:r>
            <a:r>
              <a:rPr lang="fr-F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diverge</a:t>
            </a:r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829546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074D6-228C-38F9-A448-05B31F652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3FAC68-C51E-0496-83C8-BCB53C110912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507C83-98CA-FA47-477E-2E8ADFEC4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195733-DF0C-021E-C281-A5876CED3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561269F-574C-7BFB-F1DC-D8BF2189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Perceptron Multicouche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DACE12-F1C4-5E34-6D05-72604BE888A0}"/>
              </a:ext>
            </a:extLst>
          </p:cNvPr>
          <p:cNvSpPr txBox="1"/>
          <p:nvPr/>
        </p:nvSpPr>
        <p:spPr>
          <a:xfrm>
            <a:off x="1128672" y="1576336"/>
            <a:ext cx="4575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Essayons de trouver un entre deux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5EE610-3423-2175-4502-DA8CB0A9BFB5}"/>
              </a:ext>
            </a:extLst>
          </p:cNvPr>
          <p:cNvSpPr txBox="1"/>
          <p:nvPr/>
        </p:nvSpPr>
        <p:spPr>
          <a:xfrm>
            <a:off x="1128672" y="2212033"/>
            <a:ext cx="3921723" cy="1123712"/>
          </a:xfrm>
          <a:prstGeom prst="round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Profondeur: [520, 128, 64, 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1 000 000</a:t>
            </a:r>
          </a:p>
        </p:txBody>
      </p:sp>
    </p:spTree>
    <p:extLst>
      <p:ext uri="{BB962C8B-B14F-4D97-AF65-F5344CB8AC3E}">
        <p14:creationId xmlns:p14="http://schemas.microsoft.com/office/powerpoint/2010/main" val="1803789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7CEEE-10C6-2ED3-246B-BD08D0B46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E7173E-13F3-95CD-62EC-CD8C87B29823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44649E-EFD9-60D3-A45E-8A71DD1A2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E4098C-EBBE-4998-8DBA-EAD3C299A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B233564-DC2B-8109-B221-FFEB906A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Perceptron Multicouche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236813-2289-7F7A-77B7-346ABFFB8E65}"/>
              </a:ext>
            </a:extLst>
          </p:cNvPr>
          <p:cNvSpPr txBox="1"/>
          <p:nvPr/>
        </p:nvSpPr>
        <p:spPr>
          <a:xfrm>
            <a:off x="1128672" y="1576336"/>
            <a:ext cx="4575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Essayons de trouver un entre deux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D9B990-E180-C583-AF20-4815DCC6C2BE}"/>
              </a:ext>
            </a:extLst>
          </p:cNvPr>
          <p:cNvSpPr txBox="1"/>
          <p:nvPr/>
        </p:nvSpPr>
        <p:spPr>
          <a:xfrm>
            <a:off x="1128672" y="2212033"/>
            <a:ext cx="3921723" cy="1123712"/>
          </a:xfrm>
          <a:prstGeom prst="round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Profondeur: [520, 128, 64, 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1 000 000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20066B-D5D0-CE5E-EEC2-A2E782BF1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670" y="1730224"/>
            <a:ext cx="5184658" cy="4160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D01085-40FB-400B-5EC0-8D268C0D719B}"/>
              </a:ext>
            </a:extLst>
          </p:cNvPr>
          <p:cNvSpPr txBox="1"/>
          <p:nvPr/>
        </p:nvSpPr>
        <p:spPr>
          <a:xfrm>
            <a:off x="1128672" y="3987913"/>
            <a:ext cx="4196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Cette fois le modèle converge mais l’erreur sur la base de test oscille.</a:t>
            </a:r>
          </a:p>
        </p:txBody>
      </p:sp>
    </p:spTree>
    <p:extLst>
      <p:ext uri="{BB962C8B-B14F-4D97-AF65-F5344CB8AC3E}">
        <p14:creationId xmlns:p14="http://schemas.microsoft.com/office/powerpoint/2010/main" val="948905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7F1EB-F496-1BF4-91ED-7518FB49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83A453-1004-60D8-1467-F60BF5740D5F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4E2E3-B57E-AF0B-37CE-7B57E986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9FE67E-621C-24B1-7116-FCD0572F7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49B54FD-B8FF-7780-C23C-D8BFA6BE7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Perceptron Multicouche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81961A-A672-5B98-EBCF-7533FF3C3135}"/>
              </a:ext>
            </a:extLst>
          </p:cNvPr>
          <p:cNvSpPr txBox="1"/>
          <p:nvPr/>
        </p:nvSpPr>
        <p:spPr>
          <a:xfrm>
            <a:off x="1128672" y="1576336"/>
            <a:ext cx="4575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Diminuons la learning rate après convergence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4C98C0-D2E5-FE35-1B21-4E49AB1288FD}"/>
              </a:ext>
            </a:extLst>
          </p:cNvPr>
          <p:cNvSpPr txBox="1"/>
          <p:nvPr/>
        </p:nvSpPr>
        <p:spPr>
          <a:xfrm>
            <a:off x="1128672" y="2212033"/>
            <a:ext cx="3921723" cy="1123712"/>
          </a:xfrm>
          <a:prstGeom prst="round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Profondeur: [520, 128, 64, 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0.01 puis 0.001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1 000 000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(+ 400 000)</a:t>
            </a:r>
          </a:p>
        </p:txBody>
      </p:sp>
    </p:spTree>
    <p:extLst>
      <p:ext uri="{BB962C8B-B14F-4D97-AF65-F5344CB8AC3E}">
        <p14:creationId xmlns:p14="http://schemas.microsoft.com/office/powerpoint/2010/main" val="2806331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62AE-D193-A9A6-6ABD-6FC730978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5B06FE-6CDD-DEE2-D06C-0DB7921DF5D3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52BA4-DDBB-1FCF-6A26-6F6957FBF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BFE6F1-1628-D5B2-8AD0-5FAD74A9A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613171D-B106-878A-68A1-89B770375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Perceptron Multicouche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32FCF7-2C39-45ED-5C79-5CA14B7EB049}"/>
              </a:ext>
            </a:extLst>
          </p:cNvPr>
          <p:cNvSpPr txBox="1"/>
          <p:nvPr/>
        </p:nvSpPr>
        <p:spPr>
          <a:xfrm>
            <a:off x="1128672" y="1576336"/>
            <a:ext cx="4575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Diminuons la learning rate après convergence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BEC293-30BD-2F29-23CD-D9A11A4930CD}"/>
              </a:ext>
            </a:extLst>
          </p:cNvPr>
          <p:cNvSpPr txBox="1"/>
          <p:nvPr/>
        </p:nvSpPr>
        <p:spPr>
          <a:xfrm>
            <a:off x="1128672" y="2212033"/>
            <a:ext cx="3921723" cy="1123712"/>
          </a:xfrm>
          <a:prstGeom prst="round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Profondeur: [520, 128, 64, 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0.01 puis 0.001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1 000 000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(+ 400 000)</a:t>
            </a: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graph of a training error&#10;&#10;AI-generated content may be incorrect.">
            <a:extLst>
              <a:ext uri="{FF2B5EF4-FFF2-40B4-BE49-F238E27FC236}">
                <a16:creationId xmlns:a16="http://schemas.microsoft.com/office/drawing/2014/main" id="{5F509D4A-9907-55EE-855D-D51E740CA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220" y="1730224"/>
            <a:ext cx="5266954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14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021C1-59BA-69B7-B376-E3A139462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239791-42B1-D90C-23CA-193E65BD3203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F6EEA-CF9A-7903-5744-333F206CC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34216B-9E24-4BC3-266E-5A99C4E3F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16526C2-2174-B5E8-FE83-9A42ECB27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73" y="499210"/>
            <a:ext cx="7730712" cy="705923"/>
          </a:xfrm>
        </p:spPr>
        <p:txBody>
          <a:bodyPr anchor="ctr">
            <a:norm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Note avant la live </a:t>
            </a:r>
            <a:r>
              <a:rPr lang="fr-FR" sz="3600" dirty="0" err="1">
                <a:latin typeface="Arial Black" panose="020B0A04020102020204" pitchFamily="34" charset="0"/>
              </a:rPr>
              <a:t>demo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D863B2-9C56-E8E2-3F14-9D81F72D9C9D}"/>
              </a:ext>
            </a:extLst>
          </p:cNvPr>
          <p:cNvSpPr txBox="1"/>
          <p:nvPr/>
        </p:nvSpPr>
        <p:spPr>
          <a:xfrm>
            <a:off x="2800026" y="2826057"/>
            <a:ext cx="2765097" cy="1532334"/>
          </a:xfrm>
          <a:prstGeom prst="roundRect">
            <a:avLst/>
          </a:prstGeom>
          <a:noFill/>
          <a:ln>
            <a:solidFill>
              <a:srgbClr val="C349C6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C349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Biais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identifié dans les données d’entrainement, les joueurs passent souvent juste à côté de la pomme. Particulièrement après 7 points ou plus.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2C2FE0-29F3-2799-3659-922B01E30D66}"/>
              </a:ext>
            </a:extLst>
          </p:cNvPr>
          <p:cNvSpPr txBox="1"/>
          <p:nvPr/>
        </p:nvSpPr>
        <p:spPr>
          <a:xfrm>
            <a:off x="6016574" y="2826057"/>
            <a:ext cx="2765097" cy="2247424"/>
          </a:xfrm>
          <a:prstGeom prst="roundRect">
            <a:avLst/>
          </a:prstGeom>
          <a:noFill/>
          <a:ln>
            <a:solidFill>
              <a:srgbClr val="33CCCC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modèle n’a pas de notion d’objectif ou de temps  =&gt; </a:t>
            </a:r>
            <a:r>
              <a:rPr lang="fr-FR" sz="1400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tourne sur lui-même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ne perd jamais.</a:t>
            </a:r>
          </a:p>
          <a:p>
            <a:endParaRPr lang="fr-F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400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</a:p>
          <a:p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Ajout de bruit quand le score n’a pas augmenté depuis longtemps.</a:t>
            </a:r>
          </a:p>
        </p:txBody>
      </p:sp>
    </p:spTree>
    <p:extLst>
      <p:ext uri="{BB962C8B-B14F-4D97-AF65-F5344CB8AC3E}">
        <p14:creationId xmlns:p14="http://schemas.microsoft.com/office/powerpoint/2010/main" val="4138153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6D992-2F11-E38C-54D0-CA68A41D0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1E87A-67E4-A377-E96F-34A0317CC946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0D7FE-7A65-A5A1-2FD8-09263F9FB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8667CC-FAB7-9689-7186-0378080C7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A30A2D1-F996-A8B9-E5F8-B91BE8595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184" y="1768835"/>
            <a:ext cx="6725632" cy="1106777"/>
          </a:xfrm>
        </p:spPr>
        <p:txBody>
          <a:bodyPr anchor="ctr">
            <a:normAutofit/>
          </a:bodyPr>
          <a:lstStyle/>
          <a:p>
            <a:pPr algn="ctr"/>
            <a:r>
              <a:rPr lang="fr-FR" sz="3600" dirty="0">
                <a:latin typeface="Arial Black" panose="020B0A04020102020204" pitchFamily="34" charset="0"/>
              </a:rPr>
              <a:t>Live </a:t>
            </a:r>
            <a:r>
              <a:rPr lang="fr-FR" sz="3600" dirty="0" err="1">
                <a:latin typeface="Arial Black" panose="020B0A04020102020204" pitchFamily="34" charset="0"/>
              </a:rPr>
              <a:t>demo</a:t>
            </a:r>
            <a:r>
              <a:rPr lang="fr-FR" sz="3600" dirty="0">
                <a:latin typeface="Arial Black" panose="020B0A04020102020204" pitchFamily="34" charset="0"/>
              </a:rPr>
              <a:t> !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0A0145-6A2F-A8AE-A26C-FD311A91794F}"/>
              </a:ext>
            </a:extLst>
          </p:cNvPr>
          <p:cNvSpPr txBox="1"/>
          <p:nvPr/>
        </p:nvSpPr>
        <p:spPr>
          <a:xfrm>
            <a:off x="4135138" y="2875612"/>
            <a:ext cx="3921723" cy="1123712"/>
          </a:xfrm>
          <a:prstGeom prst="round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Profondeur: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[520, 128, 64, 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rate: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0.01 puis 0.001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1 000 000 (+ 400 000)</a:t>
            </a:r>
          </a:p>
        </p:txBody>
      </p:sp>
    </p:spTree>
    <p:extLst>
      <p:ext uri="{BB962C8B-B14F-4D97-AF65-F5344CB8AC3E}">
        <p14:creationId xmlns:p14="http://schemas.microsoft.com/office/powerpoint/2010/main" val="324709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9D62C-CBA3-78EA-5620-A87DA5D0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0D6EC3-8FC4-BE66-2B0C-D694421DA831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06C5B7-D454-9782-6348-39554C819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E98951-AA2E-5BFB-82FD-7681A0B7B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E416DFE-4AB4-059A-0D9C-0978BBA796DC}"/>
              </a:ext>
            </a:extLst>
          </p:cNvPr>
          <p:cNvSpPr txBox="1">
            <a:spLocks/>
          </p:cNvSpPr>
          <p:nvPr/>
        </p:nvSpPr>
        <p:spPr>
          <a:xfrm>
            <a:off x="1098395" y="384153"/>
            <a:ext cx="5847412" cy="70592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latin typeface="Arial Black" panose="020B0A04020102020204" pitchFamily="34" charset="0"/>
              </a:rPr>
              <a:t>Bilan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D897C5-2B5F-A4B2-9ADB-9FEA1F694300}"/>
              </a:ext>
            </a:extLst>
          </p:cNvPr>
          <p:cNvSpPr txBox="1"/>
          <p:nvPr/>
        </p:nvSpPr>
        <p:spPr>
          <a:xfrm>
            <a:off x="1267952" y="1889356"/>
            <a:ext cx="46786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noProof="0" dirty="0">
                <a:solidFill>
                  <a:schemeClr val="bg1"/>
                </a:solidFill>
              </a:rPr>
              <a:t>Objectifs atteints</a:t>
            </a:r>
            <a:r>
              <a:rPr lang="fr-FR" b="1" u="sng" dirty="0">
                <a:solidFill>
                  <a:schemeClr val="bg1"/>
                </a:solidFill>
              </a:rPr>
              <a:t> :</a:t>
            </a:r>
          </a:p>
          <a:p>
            <a:endParaRPr lang="fr-FR" b="1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chemeClr val="bg1"/>
                </a:solidFill>
              </a:rPr>
              <a:t>Implémentation d’une librairie C++ pour la création de modèle de machine learning de base</a:t>
            </a:r>
          </a:p>
          <a:p>
            <a:pPr marL="285750" indent="-285750">
              <a:buFontTx/>
              <a:buChar char="-"/>
            </a:pPr>
            <a:endParaRPr lang="fr-FR" b="1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chemeClr val="bg1"/>
                </a:solidFill>
              </a:rPr>
              <a:t>Application de cette librairie pour de l’imitation learning sur le jeu d’arcade Snake</a:t>
            </a:r>
          </a:p>
          <a:p>
            <a:pPr marL="285750" indent="-285750">
              <a:buFontTx/>
              <a:buChar char="-"/>
            </a:pPr>
            <a:endParaRPr lang="fr-FR" b="1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chemeClr val="bg1"/>
                </a:solidFill>
              </a:rPr>
              <a:t>Obtention de résultats intéressant et d’un joueur artificielle fonctionnel</a:t>
            </a:r>
            <a:endParaRPr lang="fr-FR" b="1" noProof="0" dirty="0">
              <a:solidFill>
                <a:schemeClr val="bg1"/>
              </a:solidFill>
            </a:endParaRPr>
          </a:p>
          <a:p>
            <a:endParaRPr lang="fr-FR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13C515-5491-FA51-6B6A-7867D2F3A8A3}"/>
              </a:ext>
            </a:extLst>
          </p:cNvPr>
          <p:cNvSpPr txBox="1"/>
          <p:nvPr/>
        </p:nvSpPr>
        <p:spPr>
          <a:xfrm>
            <a:off x="6245373" y="1889356"/>
            <a:ext cx="46786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noProof="0" dirty="0">
                <a:solidFill>
                  <a:schemeClr val="bg1"/>
                </a:solidFill>
              </a:rPr>
              <a:t>Axes d’amélioration </a:t>
            </a:r>
            <a:r>
              <a:rPr lang="fr-FR" b="1" u="sng" dirty="0">
                <a:solidFill>
                  <a:schemeClr val="bg1"/>
                </a:solidFill>
              </a:rPr>
              <a:t>:</a:t>
            </a:r>
          </a:p>
          <a:p>
            <a:endParaRPr lang="fr-FR" b="1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chemeClr val="bg1"/>
                </a:solidFill>
              </a:rPr>
              <a:t>Augmenter la taille du </a:t>
            </a:r>
            <a:r>
              <a:rPr lang="fr-FR" b="1" dirty="0" err="1">
                <a:solidFill>
                  <a:schemeClr val="bg1"/>
                </a:solidFill>
              </a:rPr>
              <a:t>dataset</a:t>
            </a:r>
            <a:r>
              <a:rPr lang="fr-FR" b="1" dirty="0">
                <a:solidFill>
                  <a:schemeClr val="bg1"/>
                </a:solidFill>
              </a:rPr>
              <a:t> pour apprendre à mieux généraliser</a:t>
            </a:r>
          </a:p>
          <a:p>
            <a:pPr marL="285750" indent="-285750">
              <a:buFontTx/>
              <a:buChar char="-"/>
            </a:pPr>
            <a:endParaRPr lang="fr-FR" b="1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chemeClr val="bg1"/>
                </a:solidFill>
              </a:rPr>
              <a:t>Tester l’implémentation du RBF ou du SVM</a:t>
            </a:r>
          </a:p>
          <a:p>
            <a:pPr marL="285750" indent="-285750">
              <a:buFontTx/>
              <a:buChar char="-"/>
            </a:pPr>
            <a:endParaRPr lang="fr-FR" b="1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b="1" noProof="0" dirty="0">
                <a:solidFill>
                  <a:schemeClr val="bg1"/>
                </a:solidFill>
              </a:rPr>
              <a:t>[hors ca</a:t>
            </a:r>
            <a:r>
              <a:rPr lang="fr-FR" b="1" dirty="0" err="1">
                <a:solidFill>
                  <a:schemeClr val="bg1"/>
                </a:solidFill>
              </a:rPr>
              <a:t>dre</a:t>
            </a:r>
            <a:r>
              <a:rPr lang="fr-FR" b="1" dirty="0">
                <a:solidFill>
                  <a:schemeClr val="bg1"/>
                </a:solidFill>
              </a:rPr>
              <a:t> du cours] utilisation du RL pour un apprentissage autonome non supervisé</a:t>
            </a:r>
            <a:endParaRPr lang="fr-FR" b="1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769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C15E9-19D9-0A8B-9DEA-C5827368C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B2B264-430D-5438-0561-4397F0169AA5}"/>
              </a:ext>
            </a:extLst>
          </p:cNvPr>
          <p:cNvSpPr txBox="1"/>
          <p:nvPr/>
        </p:nvSpPr>
        <p:spPr>
          <a:xfrm>
            <a:off x="940137" y="6534024"/>
            <a:ext cx="2381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Maxime Chalumeau 4RVJV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1F7EC4-7551-E939-C87D-FF382A8DA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86368" y="690511"/>
            <a:ext cx="292782" cy="1771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5F25E2-3000-CB48-355D-03798BA61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8" y="5265917"/>
            <a:ext cx="292784" cy="3718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D9FCF10-BA03-A2C9-9845-76E255CFF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184" y="2875611"/>
            <a:ext cx="6725632" cy="1106777"/>
          </a:xfrm>
        </p:spPr>
        <p:txBody>
          <a:bodyPr anchor="ctr">
            <a:normAutofit/>
          </a:bodyPr>
          <a:lstStyle/>
          <a:p>
            <a:pPr algn="ctr"/>
            <a:r>
              <a:rPr lang="fr-FR" sz="3600" dirty="0">
                <a:latin typeface="Arial Black" panose="020B0A04020102020204" pitchFamily="34" charset="0"/>
              </a:rPr>
              <a:t>Merci de votre attention !</a:t>
            </a:r>
            <a:endParaRPr lang="fr-FR" sz="3600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4657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{76F3AA6A-D003-4A20-BF78-3699297071FA}TF3977e381-cba5-49b1-ba43-b5d865517af907ebbda9_win32-372d4d6ae720</Template>
  <TotalTime>227</TotalTime>
  <Words>1615</Words>
  <Application>Microsoft Office PowerPoint</Application>
  <PresentationFormat>Widescreen</PresentationFormat>
  <Paragraphs>301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Arial Black</vt:lpstr>
      <vt:lpstr>Calibri</vt:lpstr>
      <vt:lpstr>JetBrains Mono</vt:lpstr>
      <vt:lpstr>Symbol</vt:lpstr>
      <vt:lpstr>Tisa Offc Serif Pro</vt:lpstr>
      <vt:lpstr>Univers Light</vt:lpstr>
      <vt:lpstr>Custom</vt:lpstr>
      <vt:lpstr>Apprentissage par imitation appliqué au jeu Snake</vt:lpstr>
      <vt:lpstr>Introduction</vt:lpstr>
      <vt:lpstr>PowerPoint Presentation</vt:lpstr>
      <vt:lpstr>Jeu et représentation des états</vt:lpstr>
      <vt:lpstr>Jeu et représentation des états</vt:lpstr>
      <vt:lpstr>Librairie ML_lib</vt:lpstr>
      <vt:lpstr>Entraînement des modèles </vt:lpstr>
      <vt:lpstr>Le dataset</vt:lpstr>
      <vt:lpstr>Modèle linéaire</vt:lpstr>
      <vt:lpstr>Modèle linéaire</vt:lpstr>
      <vt:lpstr>Modèle linéaire</vt:lpstr>
      <vt:lpstr>Modèle linéaire</vt:lpstr>
      <vt:lpstr>Modèle linéaire</vt:lpstr>
      <vt:lpstr>Solution ?</vt:lpstr>
      <vt:lpstr>Perceptron Multicouche (ou MLP)</vt:lpstr>
      <vt:lpstr>Perceptron Multicouche</vt:lpstr>
      <vt:lpstr>Perceptron Multicouche</vt:lpstr>
      <vt:lpstr>Perceptron Multicouche</vt:lpstr>
      <vt:lpstr>Perceptron Multicouche</vt:lpstr>
      <vt:lpstr>Perceptron Multicouche</vt:lpstr>
      <vt:lpstr>Perceptron Multicouche</vt:lpstr>
      <vt:lpstr>Perceptron Multicouche</vt:lpstr>
      <vt:lpstr>Perceptron Multicouche</vt:lpstr>
      <vt:lpstr>Perceptron Multicouche</vt:lpstr>
      <vt:lpstr>Perceptron Multicouche</vt:lpstr>
      <vt:lpstr>Perceptron Multicouche</vt:lpstr>
      <vt:lpstr>Perceptron Multicouche</vt:lpstr>
      <vt:lpstr>Note avant la live demo</vt:lpstr>
      <vt:lpstr>Live demo !</vt:lpstr>
      <vt:lpstr>PowerPoint Presentation</vt:lpstr>
      <vt:lpstr>Merci de votre attention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CHALUMEAU</dc:creator>
  <cp:lastModifiedBy>Maxime CHALUMEAU</cp:lastModifiedBy>
  <cp:revision>17</cp:revision>
  <dcterms:created xsi:type="dcterms:W3CDTF">2025-12-14T13:07:37Z</dcterms:created>
  <dcterms:modified xsi:type="dcterms:W3CDTF">2025-12-14T16:54:43Z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